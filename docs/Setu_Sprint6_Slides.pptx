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problem: colleges keep attendance, enrollment, lessons, quizzes and risk in separate tools, so evidence is fragmented, support comes late, and risk is hard to explain or trust. Setu answers it with one system of record and explainable risk. Sprint 6 changes how it is built: one application became nine containers (a gateway, seven services and a core) that own their data and talk through events. Then the stack. Close with the AI rule: it explains, it never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count carefully: nine containers are the gateway, seven extracted services (identity, academic, attendance, assessment, learning, notification and AI) and the core, which still holds finance, careers, records and risk. Walk top to bottom: browser, gateway, services, then the shared infrastructure. Colour shows data ownership: teal services own their PostgreSQL server, blue ones still share one, the AI service has no database at all. Be upfront: four services are split, identity and academic still share, and finance, careers, records and risk are still inside the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student through the system: sign in through the gateway (Identity issues the token), faculty opens attendance, the student enters the rotating check-in code (the app shows it as text that changes every few seconds, so say enter, not scan), the board updates live over the gateway WebSocket, a quiz is marked automatically by Assessment and faculty publish the grade (the grade and its event are saved together at that moment), Risk recalculates from events, and the AI service explains the result with sources. Step 5 is where Sprint 6 shows: the grade and an outbox row are saved together, a helper sends the event to Kafka, and Risk, Academic and Notification each react on their own. Delivery is at-least-once; readers record event ids so repeats do nothing, and a bad message goes to the dead-letter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cademian logo">    </p:cNvPr>
          <p:cNvPicPr>
            <a:picLocks noChangeAspect="1"/>
          </p:cNvPicPr>
          <p:nvPr/>
        </p:nvPicPr>
        <p:blipFill>
          <a:blip r:embed="rId2"/>
          <a:stretch>
            <a:fillRect/>
          </a:stretch>
        </p:blipFill>
        <p:spPr>
          <a:xfrm>
            <a:off x="10634472" y="457200"/>
            <a:ext cx="1051560" cy="228600"/>
          </a:xfrm>
          <a:prstGeom prst="rect">
            <a:avLst/>
          </a:prstGeom>
        </p:spPr>
      </p:pic>
      <p:sp>
        <p:nvSpPr>
          <p:cNvPr id="3" name="Text 0"/>
          <p:cNvSpPr txBox="1"/>
          <p:nvPr/>
        </p:nvSpPr>
        <p:spPr>
          <a:xfrm>
            <a:off x="7680960" y="201168"/>
            <a:ext cx="4023360" cy="228600"/>
          </a:xfrm>
          <a:prstGeom prst="rect">
            <a:avLst/>
          </a:prstGeom>
          <a:noFill/>
          <a:ln/>
        </p:spPr>
        <p:txBody>
          <a:bodyPr wrap="square" lIns="0" tIns="0" rIns="0" bIns="0" rtlCol="0" anchor="ctr"/>
          <a:lstStyle/>
          <a:p>
            <a:pPr algn="r" indent="0" marL="0">
              <a:buNone/>
            </a:pPr>
            <a:r>
              <a:rPr lang="en-US" sz="900" b="1" dirty="0">
                <a:solidFill>
                  <a:srgbClr val="2167D2"/>
                </a:solidFill>
                <a:latin typeface="Consolas" pitchFamily="34" charset="0"/>
                <a:ea typeface="Consolas" pitchFamily="34" charset="-122"/>
                <a:cs typeface="Consolas" pitchFamily="34" charset="-120"/>
              </a:rPr>
              <a:t>SPRINT 6 OVERVIEW</a:t>
            </a:r>
            <a:endParaRPr lang="en-US" sz="900" dirty="0"/>
          </a:p>
        </p:txBody>
      </p:sp>
      <p:sp>
        <p:nvSpPr>
          <p:cNvPr id="4" name="Text 1"/>
          <p:cNvSpPr txBox="1"/>
          <p:nvPr/>
        </p:nvSpPr>
        <p:spPr>
          <a:xfrm>
            <a:off x="548640" y="274320"/>
            <a:ext cx="9875520" cy="640080"/>
          </a:xfrm>
          <a:prstGeom prst="rect">
            <a:avLst/>
          </a:prstGeom>
          <a:noFill/>
          <a:ln/>
        </p:spPr>
        <p:txBody>
          <a:bodyPr wrap="square" lIns="0" tIns="0" rIns="0" bIns="0" rtlCol="0" anchor="ctr"/>
          <a:lstStyle/>
          <a:p>
            <a:pPr indent="0" marL="0">
              <a:buNone/>
            </a:pPr>
            <a:r>
              <a:rPr lang="en-US" sz="2800" b="1" dirty="0">
                <a:solidFill>
                  <a:srgbClr val="0F2F53"/>
                </a:solidFill>
                <a:latin typeface="Georgia" pitchFamily="34" charset="0"/>
                <a:ea typeface="Georgia" pitchFamily="34" charset="-122"/>
                <a:cs typeface="Georgia" pitchFamily="34" charset="-120"/>
              </a:rPr>
              <a:t>Setu: Problem Statement &amp; Tech Stack</a:t>
            </a:r>
            <a:endParaRPr lang="en-US" sz="2800" dirty="0"/>
          </a:p>
        </p:txBody>
      </p:sp>
      <p:sp>
        <p:nvSpPr>
          <p:cNvPr id="5" name="Text 2"/>
          <p:cNvSpPr txBox="1"/>
          <p:nvPr/>
        </p:nvSpPr>
        <p:spPr>
          <a:xfrm>
            <a:off x="548640" y="914400"/>
            <a:ext cx="10058400" cy="320040"/>
          </a:xfrm>
          <a:prstGeom prst="rect">
            <a:avLst/>
          </a:prstGeom>
          <a:noFill/>
          <a:ln/>
        </p:spPr>
        <p:txBody>
          <a:bodyPr wrap="square" lIns="0" tIns="0" rIns="0" bIns="0" rtlCol="0" anchor="ctr"/>
          <a:lstStyle/>
          <a:p>
            <a:pPr indent="0" marL="0">
              <a:buNone/>
            </a:pPr>
            <a:r>
              <a:rPr lang="en-US" sz="1500" dirty="0">
                <a:solidFill>
                  <a:srgbClr val="536980"/>
                </a:solidFill>
                <a:latin typeface="Aptos" pitchFamily="34" charset="0"/>
                <a:ea typeface="Aptos" pitchFamily="34" charset="-122"/>
                <a:cs typeface="Aptos" pitchFamily="34" charset="-120"/>
              </a:rPr>
              <a:t>Sprint 6 turns one application into a gateway, seven services and a core.</a:t>
            </a:r>
            <a:endParaRPr lang="en-US" sz="1500" dirty="0"/>
          </a:p>
        </p:txBody>
      </p:sp>
      <p:sp>
        <p:nvSpPr>
          <p:cNvPr id="6" name="Badge !"/>
          <p:cNvSpPr/>
          <p:nvPr/>
        </p:nvSpPr>
        <p:spPr>
          <a:xfrm>
            <a:off x="548640" y="1371600"/>
            <a:ext cx="420624" cy="420624"/>
          </a:xfrm>
          <a:prstGeom prst="ellipse">
            <a:avLst/>
          </a:prstGeom>
          <a:solidFill>
            <a:srgbClr val="2167D2"/>
          </a:solidFill>
          <a:ln w="12700">
            <a:solidFill>
              <a:srgbClr val="2167D2"/>
            </a:solidFill>
            <a:prstDash val="solid"/>
          </a:ln>
          <a:effectLst>
            <a:outerShdw sx="100000" sy="100000" kx="0" ky="0" algn="bl" rotWithShape="0" blurRad="76200" dist="25400" dir="5400000">
              <a:srgbClr val="1B3A5C">
                <a:alpha val="18000"/>
              </a:srgbClr>
            </a:outerShdw>
          </a:effectLst>
        </p:spPr>
      </p:sp>
      <p:sp>
        <p:nvSpPr>
          <p:cNvPr id="7" name="Text 4"/>
          <p:cNvSpPr txBox="1"/>
          <p:nvPr/>
        </p:nvSpPr>
        <p:spPr>
          <a:xfrm>
            <a:off x="548640" y="13716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8" name="Text 5"/>
          <p:cNvSpPr txBox="1"/>
          <p:nvPr/>
        </p:nvSpPr>
        <p:spPr>
          <a:xfrm>
            <a:off x="1097280" y="1371600"/>
            <a:ext cx="7315200" cy="420624"/>
          </a:xfrm>
          <a:prstGeom prst="rect">
            <a:avLst/>
          </a:prstGeom>
          <a:noFill/>
          <a:ln/>
        </p:spPr>
        <p:txBody>
          <a:bodyPr wrap="square" lIns="0" tIns="0" rIns="0" bIns="0" rtlCol="0" anchor="ctr"/>
          <a:lstStyle/>
          <a:p>
            <a:pPr indent="0" marL="0">
              <a:buNone/>
            </a:pPr>
            <a:r>
              <a:rPr lang="en-US" sz="2000" b="1" dirty="0">
                <a:solidFill>
                  <a:srgbClr val="0F2F53"/>
                </a:solidFill>
                <a:latin typeface="Georgia" pitchFamily="34" charset="0"/>
                <a:ea typeface="Georgia" pitchFamily="34" charset="-122"/>
                <a:cs typeface="Georgia" pitchFamily="34" charset="-120"/>
              </a:rPr>
              <a:t>Problem statement</a:t>
            </a:r>
            <a:endParaRPr lang="en-US" sz="2000" dirty="0"/>
          </a:p>
        </p:txBody>
      </p:sp>
      <p:sp>
        <p:nvSpPr>
          <p:cNvPr id="9" name="Text 6"/>
          <p:cNvSpPr txBox="1"/>
          <p:nvPr/>
        </p:nvSpPr>
        <p:spPr>
          <a:xfrm>
            <a:off x="1097280" y="1874520"/>
            <a:ext cx="10515600" cy="502920"/>
          </a:xfrm>
          <a:prstGeom prst="rect">
            <a:avLst/>
          </a:prstGeom>
          <a:noFill/>
          <a:ln/>
        </p:spPr>
        <p:txBody>
          <a:bodyPr wrap="square" lIns="0" tIns="0" rIns="0" bIns="0" rtlCol="0" anchor="t"/>
          <a:lstStyle/>
          <a:p>
            <a:pPr indent="0" marL="0">
              <a:buNone/>
            </a:pPr>
            <a:r>
              <a:rPr lang="en-US" sz="1350" dirty="0">
                <a:solidFill>
                  <a:srgbClr val="233A52"/>
                </a:solidFill>
                <a:latin typeface="Aptos" pitchFamily="34" charset="0"/>
                <a:ea typeface="Aptos" pitchFamily="34" charset="-122"/>
                <a:cs typeface="Aptos" pitchFamily="34" charset="-120"/>
              </a:rPr>
              <a:t>Colleges keep attendance, enrollment, lessons, quizzes and risk checks in separate tools. This fragments evidence, delays support and makes risk difficult to explain or trust.</a:t>
            </a:r>
            <a:endParaRPr lang="en-US" sz="1350" dirty="0"/>
          </a:p>
        </p:txBody>
      </p:sp>
      <p:sp>
        <p:nvSpPr>
          <p:cNvPr id="10" name="Card Siloed data"/>
          <p:cNvSpPr/>
          <p:nvPr/>
        </p:nvSpPr>
        <p:spPr>
          <a:xfrm>
            <a:off x="548640" y="2514600"/>
            <a:ext cx="3566160" cy="1051560"/>
          </a:xfrm>
          <a:prstGeom prst="roundRect">
            <a:avLst>
              <a:gd name="adj" fmla="val 5217"/>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11" name="Card accent Siloed data"/>
          <p:cNvSpPr/>
          <p:nvPr/>
        </p:nvSpPr>
        <p:spPr>
          <a:xfrm>
            <a:off x="548640" y="2551176"/>
            <a:ext cx="64008" cy="978408"/>
          </a:xfrm>
          <a:prstGeom prst="rect">
            <a:avLst/>
          </a:prstGeom>
          <a:solidFill>
            <a:srgbClr val="2167D2"/>
          </a:solidFill>
          <a:ln w="12700">
            <a:solidFill>
              <a:srgbClr val="2167D2"/>
            </a:solidFill>
            <a:prstDash val="solid"/>
          </a:ln>
        </p:spPr>
      </p:sp>
      <p:sp>
        <p:nvSpPr>
          <p:cNvPr id="12" name="Text 9"/>
          <p:cNvSpPr txBox="1"/>
          <p:nvPr/>
        </p:nvSpPr>
        <p:spPr>
          <a:xfrm>
            <a:off x="749808" y="2606040"/>
            <a:ext cx="3246120" cy="347472"/>
          </a:xfrm>
          <a:prstGeom prst="rect">
            <a:avLst/>
          </a:prstGeom>
          <a:noFill/>
          <a:ln/>
        </p:spPr>
        <p:txBody>
          <a:bodyPr wrap="square" lIns="0" tIns="0" rIns="0" bIns="0" rtlCol="0" anchor="ctr"/>
          <a:lstStyle/>
          <a:p>
            <a:pPr indent="0" marL="0">
              <a:buNone/>
            </a:pPr>
            <a:r>
              <a:rPr lang="en-US" sz="1500" b="1" dirty="0">
                <a:solidFill>
                  <a:srgbClr val="2167D2"/>
                </a:solidFill>
                <a:latin typeface="Georgia" pitchFamily="34" charset="0"/>
                <a:ea typeface="Georgia" pitchFamily="34" charset="-122"/>
                <a:cs typeface="Georgia" pitchFamily="34" charset="-120"/>
              </a:rPr>
              <a:t>Siloed data</a:t>
            </a:r>
            <a:endParaRPr lang="en-US" sz="1500" dirty="0"/>
          </a:p>
        </p:txBody>
      </p:sp>
      <p:sp>
        <p:nvSpPr>
          <p:cNvPr id="13" name="Text 10"/>
          <p:cNvSpPr txBox="1"/>
          <p:nvPr/>
        </p:nvSpPr>
        <p:spPr>
          <a:xfrm>
            <a:off x="749808" y="2971800"/>
            <a:ext cx="3246120" cy="521208"/>
          </a:xfrm>
          <a:prstGeom prst="rect">
            <a:avLst/>
          </a:prstGeom>
          <a:noFill/>
          <a:ln/>
        </p:spPr>
        <p:txBody>
          <a:bodyPr wrap="square" lIns="0" tIns="0" rIns="0" bIns="0" rtlCol="0" anchor="t"/>
          <a:lstStyle/>
          <a:p>
            <a:pPr indent="0" marL="0">
              <a:buNone/>
            </a:pPr>
            <a:r>
              <a:rPr lang="en-US" sz="1200" dirty="0">
                <a:solidFill>
                  <a:srgbClr val="233A52"/>
                </a:solidFill>
                <a:latin typeface="Aptos" pitchFamily="34" charset="0"/>
                <a:ea typeface="Aptos" pitchFamily="34" charset="-122"/>
                <a:cs typeface="Aptos" pitchFamily="34" charset="-120"/>
              </a:rPr>
              <a:t>SIS, LMS and early-warning records lack one complete picture.</a:t>
            </a:r>
            <a:endParaRPr lang="en-US" sz="1200" dirty="0"/>
          </a:p>
        </p:txBody>
      </p:sp>
      <p:sp>
        <p:nvSpPr>
          <p:cNvPr id="14" name="Card Late risk detection"/>
          <p:cNvSpPr/>
          <p:nvPr/>
        </p:nvSpPr>
        <p:spPr>
          <a:xfrm>
            <a:off x="4297680" y="2514600"/>
            <a:ext cx="3566160" cy="1051560"/>
          </a:xfrm>
          <a:prstGeom prst="roundRect">
            <a:avLst>
              <a:gd name="adj" fmla="val 5217"/>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15" name="Card accent Late risk detection"/>
          <p:cNvSpPr/>
          <p:nvPr/>
        </p:nvSpPr>
        <p:spPr>
          <a:xfrm>
            <a:off x="4297680" y="2551176"/>
            <a:ext cx="64008" cy="978408"/>
          </a:xfrm>
          <a:prstGeom prst="rect">
            <a:avLst/>
          </a:prstGeom>
          <a:solidFill>
            <a:srgbClr val="0D99AE"/>
          </a:solidFill>
          <a:ln w="12700">
            <a:solidFill>
              <a:srgbClr val="0D99AE"/>
            </a:solidFill>
            <a:prstDash val="solid"/>
          </a:ln>
        </p:spPr>
      </p:sp>
      <p:sp>
        <p:nvSpPr>
          <p:cNvPr id="16" name="Text 13"/>
          <p:cNvSpPr txBox="1"/>
          <p:nvPr/>
        </p:nvSpPr>
        <p:spPr>
          <a:xfrm>
            <a:off x="4498848" y="2606040"/>
            <a:ext cx="3246120" cy="347472"/>
          </a:xfrm>
          <a:prstGeom prst="rect">
            <a:avLst/>
          </a:prstGeom>
          <a:noFill/>
          <a:ln/>
        </p:spPr>
        <p:txBody>
          <a:bodyPr wrap="square" lIns="0" tIns="0" rIns="0" bIns="0" rtlCol="0" anchor="ctr"/>
          <a:lstStyle/>
          <a:p>
            <a:pPr indent="0" marL="0">
              <a:buNone/>
            </a:pPr>
            <a:r>
              <a:rPr lang="en-US" sz="1500" b="1" dirty="0">
                <a:solidFill>
                  <a:srgbClr val="0D99AE"/>
                </a:solidFill>
                <a:latin typeface="Georgia" pitchFamily="34" charset="0"/>
                <a:ea typeface="Georgia" pitchFamily="34" charset="-122"/>
                <a:cs typeface="Georgia" pitchFamily="34" charset="-120"/>
              </a:rPr>
              <a:t>Late risk detection</a:t>
            </a:r>
            <a:endParaRPr lang="en-US" sz="1500" dirty="0"/>
          </a:p>
        </p:txBody>
      </p:sp>
      <p:sp>
        <p:nvSpPr>
          <p:cNvPr id="17" name="Text 14"/>
          <p:cNvSpPr txBox="1"/>
          <p:nvPr/>
        </p:nvSpPr>
        <p:spPr>
          <a:xfrm>
            <a:off x="4498848" y="2971800"/>
            <a:ext cx="3246120" cy="521208"/>
          </a:xfrm>
          <a:prstGeom prst="rect">
            <a:avLst/>
          </a:prstGeom>
          <a:noFill/>
          <a:ln/>
        </p:spPr>
        <p:txBody>
          <a:bodyPr wrap="square" lIns="0" tIns="0" rIns="0" bIns="0" rtlCol="0" anchor="t"/>
          <a:lstStyle/>
          <a:p>
            <a:pPr indent="0" marL="0">
              <a:buNone/>
            </a:pPr>
            <a:r>
              <a:rPr lang="en-US" sz="1200" dirty="0">
                <a:solidFill>
                  <a:srgbClr val="233A52"/>
                </a:solidFill>
                <a:latin typeface="Aptos" pitchFamily="34" charset="0"/>
                <a:ea typeface="Aptos" pitchFamily="34" charset="-122"/>
                <a:cs typeface="Aptos" pitchFamily="34" charset="-120"/>
              </a:rPr>
              <a:t>Advisors may spot patterns near exam time, when action is harder.</a:t>
            </a:r>
            <a:endParaRPr lang="en-US" sz="1200" dirty="0"/>
          </a:p>
        </p:txBody>
      </p:sp>
      <p:sp>
        <p:nvSpPr>
          <p:cNvPr id="18" name="Card Trust &amp; safety"/>
          <p:cNvSpPr/>
          <p:nvPr/>
        </p:nvSpPr>
        <p:spPr>
          <a:xfrm>
            <a:off x="8046720" y="2514600"/>
            <a:ext cx="3566160" cy="1051560"/>
          </a:xfrm>
          <a:prstGeom prst="roundRect">
            <a:avLst>
              <a:gd name="adj" fmla="val 5217"/>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19" name="Card accent Trust &amp; safety"/>
          <p:cNvSpPr/>
          <p:nvPr/>
        </p:nvSpPr>
        <p:spPr>
          <a:xfrm>
            <a:off x="8046720" y="2551176"/>
            <a:ext cx="64008" cy="978408"/>
          </a:xfrm>
          <a:prstGeom prst="rect">
            <a:avLst/>
          </a:prstGeom>
          <a:solidFill>
            <a:srgbClr val="22AC71"/>
          </a:solidFill>
          <a:ln w="12700">
            <a:solidFill>
              <a:srgbClr val="22AC71"/>
            </a:solidFill>
            <a:prstDash val="solid"/>
          </a:ln>
        </p:spPr>
      </p:sp>
      <p:sp>
        <p:nvSpPr>
          <p:cNvPr id="20" name="Text 17"/>
          <p:cNvSpPr txBox="1"/>
          <p:nvPr/>
        </p:nvSpPr>
        <p:spPr>
          <a:xfrm>
            <a:off x="8247888" y="2606040"/>
            <a:ext cx="3246120" cy="347472"/>
          </a:xfrm>
          <a:prstGeom prst="rect">
            <a:avLst/>
          </a:prstGeom>
          <a:noFill/>
          <a:ln/>
        </p:spPr>
        <p:txBody>
          <a:bodyPr wrap="square" lIns="0" tIns="0" rIns="0" bIns="0" rtlCol="0" anchor="ctr"/>
          <a:lstStyle/>
          <a:p>
            <a:pPr indent="0" marL="0">
              <a:buNone/>
            </a:pPr>
            <a:r>
              <a:rPr lang="en-US" sz="1500" b="1" dirty="0">
                <a:solidFill>
                  <a:srgbClr val="22AC71"/>
                </a:solidFill>
                <a:latin typeface="Georgia" pitchFamily="34" charset="0"/>
                <a:ea typeface="Georgia" pitchFamily="34" charset="-122"/>
                <a:cs typeface="Georgia" pitchFamily="34" charset="-120"/>
              </a:rPr>
              <a:t>Trust &amp; safety</a:t>
            </a:r>
            <a:endParaRPr lang="en-US" sz="1500" dirty="0"/>
          </a:p>
        </p:txBody>
      </p:sp>
      <p:sp>
        <p:nvSpPr>
          <p:cNvPr id="21" name="Text 18"/>
          <p:cNvSpPr txBox="1"/>
          <p:nvPr/>
        </p:nvSpPr>
        <p:spPr>
          <a:xfrm>
            <a:off x="8247888" y="2971800"/>
            <a:ext cx="3246120" cy="521208"/>
          </a:xfrm>
          <a:prstGeom prst="rect">
            <a:avLst/>
          </a:prstGeom>
          <a:noFill/>
          <a:ln/>
        </p:spPr>
        <p:txBody>
          <a:bodyPr wrap="square" lIns="0" tIns="0" rIns="0" bIns="0" rtlCol="0" anchor="t"/>
          <a:lstStyle/>
          <a:p>
            <a:pPr indent="0" marL="0">
              <a:buNone/>
            </a:pPr>
            <a:r>
              <a:rPr lang="en-US" sz="1200" dirty="0">
                <a:solidFill>
                  <a:srgbClr val="233A52"/>
                </a:solidFill>
                <a:latin typeface="Aptos" pitchFamily="34" charset="0"/>
                <a:ea typeface="Aptos" pitchFamily="34" charset="-122"/>
                <a:cs typeface="Aptos" pitchFamily="34" charset="-120"/>
              </a:rPr>
              <a:t>Student data needs permissions, college isolation and sourced explanations.</a:t>
            </a:r>
            <a:endParaRPr lang="en-US" sz="1200" dirty="0"/>
          </a:p>
        </p:txBody>
      </p:sp>
      <p:sp>
        <p:nvSpPr>
          <p:cNvPr id="22" name="Badge T"/>
          <p:cNvSpPr/>
          <p:nvPr/>
        </p:nvSpPr>
        <p:spPr>
          <a:xfrm>
            <a:off x="548640" y="3749040"/>
            <a:ext cx="420624" cy="420624"/>
          </a:xfrm>
          <a:prstGeom prst="ellipse">
            <a:avLst/>
          </a:prstGeom>
          <a:solidFill>
            <a:srgbClr val="0D99AE"/>
          </a:solidFill>
          <a:ln w="12700">
            <a:solidFill>
              <a:srgbClr val="0D99AE"/>
            </a:solidFill>
            <a:prstDash val="solid"/>
          </a:ln>
          <a:effectLst>
            <a:outerShdw sx="100000" sy="100000" kx="0" ky="0" algn="bl" rotWithShape="0" blurRad="76200" dist="25400" dir="5400000">
              <a:srgbClr val="1B3A5C">
                <a:alpha val="18000"/>
              </a:srgbClr>
            </a:outerShdw>
          </a:effectLst>
        </p:spPr>
      </p:sp>
      <p:sp>
        <p:nvSpPr>
          <p:cNvPr id="23" name="Text 20"/>
          <p:cNvSpPr txBox="1"/>
          <p:nvPr/>
        </p:nvSpPr>
        <p:spPr>
          <a:xfrm>
            <a:off x="548640" y="37490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T</a:t>
            </a:r>
            <a:endParaRPr lang="en-US" sz="1400" dirty="0"/>
          </a:p>
        </p:txBody>
      </p:sp>
      <p:sp>
        <p:nvSpPr>
          <p:cNvPr id="24" name="Text 21"/>
          <p:cNvSpPr txBox="1"/>
          <p:nvPr/>
        </p:nvSpPr>
        <p:spPr>
          <a:xfrm>
            <a:off x="1097280" y="3749040"/>
            <a:ext cx="7315200" cy="420624"/>
          </a:xfrm>
          <a:prstGeom prst="rect">
            <a:avLst/>
          </a:prstGeom>
          <a:noFill/>
          <a:ln/>
        </p:spPr>
        <p:txBody>
          <a:bodyPr wrap="square" lIns="0" tIns="0" rIns="0" bIns="0" rtlCol="0" anchor="ctr"/>
          <a:lstStyle/>
          <a:p>
            <a:pPr indent="0" marL="0">
              <a:buNone/>
            </a:pPr>
            <a:r>
              <a:rPr lang="en-US" sz="2000" b="1" dirty="0">
                <a:solidFill>
                  <a:srgbClr val="0F2F53"/>
                </a:solidFill>
                <a:latin typeface="Georgia" pitchFamily="34" charset="0"/>
                <a:ea typeface="Georgia" pitchFamily="34" charset="-122"/>
                <a:cs typeface="Georgia" pitchFamily="34" charset="-120"/>
              </a:rPr>
              <a:t>Technology stack</a:t>
            </a:r>
            <a:endParaRPr lang="en-US" sz="2000" dirty="0"/>
          </a:p>
        </p:txBody>
      </p:sp>
      <p:sp>
        <p:nvSpPr>
          <p:cNvPr id="25" name="Card Services &amp; security"/>
          <p:cNvSpPr/>
          <p:nvPr/>
        </p:nvSpPr>
        <p:spPr>
          <a:xfrm>
            <a:off x="548640" y="4343400"/>
            <a:ext cx="3566160" cy="868680"/>
          </a:xfrm>
          <a:prstGeom prst="roundRect">
            <a:avLst>
              <a:gd name="adj" fmla="val 6316"/>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26" name="Card accent Services &amp; security"/>
          <p:cNvSpPr/>
          <p:nvPr/>
        </p:nvSpPr>
        <p:spPr>
          <a:xfrm>
            <a:off x="548640" y="4379976"/>
            <a:ext cx="64008" cy="795528"/>
          </a:xfrm>
          <a:prstGeom prst="rect">
            <a:avLst/>
          </a:prstGeom>
          <a:solidFill>
            <a:srgbClr val="2167D2"/>
          </a:solidFill>
          <a:ln w="12700">
            <a:solidFill>
              <a:srgbClr val="2167D2"/>
            </a:solidFill>
            <a:prstDash val="solid"/>
          </a:ln>
        </p:spPr>
      </p:sp>
      <p:sp>
        <p:nvSpPr>
          <p:cNvPr id="27" name="Text 24"/>
          <p:cNvSpPr txBox="1"/>
          <p:nvPr/>
        </p:nvSpPr>
        <p:spPr>
          <a:xfrm>
            <a:off x="749808" y="4434840"/>
            <a:ext cx="3246120" cy="347472"/>
          </a:xfrm>
          <a:prstGeom prst="rect">
            <a:avLst/>
          </a:prstGeom>
          <a:noFill/>
          <a:ln/>
        </p:spPr>
        <p:txBody>
          <a:bodyPr wrap="square" lIns="0" tIns="0" rIns="0" bIns="0" rtlCol="0" anchor="ctr"/>
          <a:lstStyle/>
          <a:p>
            <a:pPr indent="0" marL="0">
              <a:buNone/>
            </a:pPr>
            <a:r>
              <a:rPr lang="en-US" sz="1400" b="1" dirty="0">
                <a:solidFill>
                  <a:srgbClr val="2167D2"/>
                </a:solidFill>
                <a:latin typeface="Georgia" pitchFamily="34" charset="0"/>
                <a:ea typeface="Georgia" pitchFamily="34" charset="-122"/>
                <a:cs typeface="Georgia" pitchFamily="34" charset="-120"/>
              </a:rPr>
              <a:t>Services &amp; security</a:t>
            </a:r>
            <a:endParaRPr lang="en-US" sz="1400" dirty="0"/>
          </a:p>
        </p:txBody>
      </p:sp>
      <p:sp>
        <p:nvSpPr>
          <p:cNvPr id="28" name="Text 25"/>
          <p:cNvSpPr txBox="1"/>
          <p:nvPr/>
        </p:nvSpPr>
        <p:spPr>
          <a:xfrm>
            <a:off x="749808" y="4800600"/>
            <a:ext cx="3246120" cy="338328"/>
          </a:xfrm>
          <a:prstGeom prst="rect">
            <a:avLst/>
          </a:prstGeom>
          <a:noFill/>
          <a:ln/>
        </p:spPr>
        <p:txBody>
          <a:bodyPr wrap="square" lIns="0" tIns="0" rIns="0" bIns="0" rtlCol="0" anchor="t"/>
          <a:lstStyle/>
          <a:p>
            <a:pPr indent="0" marL="0">
              <a:buNone/>
            </a:pPr>
            <a:r>
              <a:rPr lang="en-US" sz="1150" dirty="0">
                <a:solidFill>
                  <a:srgbClr val="233A52"/>
                </a:solidFill>
                <a:latin typeface="Aptos" pitchFamily="34" charset="0"/>
                <a:ea typeface="Aptos" pitchFamily="34" charset="-122"/>
                <a:cs typeface="Aptos" pitchFamily="34" charset="-120"/>
              </a:rPr>
              <a:t>Spring Boot 4 • Spring Modulith • JWT • WebAuthn passkeys • Argon2id</a:t>
            </a:r>
            <a:endParaRPr lang="en-US" sz="1150" dirty="0"/>
          </a:p>
        </p:txBody>
      </p:sp>
      <p:sp>
        <p:nvSpPr>
          <p:cNvPr id="29" name="Card Data"/>
          <p:cNvSpPr/>
          <p:nvPr/>
        </p:nvSpPr>
        <p:spPr>
          <a:xfrm>
            <a:off x="4297680" y="4343400"/>
            <a:ext cx="3566160" cy="868680"/>
          </a:xfrm>
          <a:prstGeom prst="roundRect">
            <a:avLst>
              <a:gd name="adj" fmla="val 6316"/>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30" name="Card accent Data"/>
          <p:cNvSpPr/>
          <p:nvPr/>
        </p:nvSpPr>
        <p:spPr>
          <a:xfrm>
            <a:off x="4297680" y="4379976"/>
            <a:ext cx="64008" cy="795528"/>
          </a:xfrm>
          <a:prstGeom prst="rect">
            <a:avLst/>
          </a:prstGeom>
          <a:solidFill>
            <a:srgbClr val="0D99AE"/>
          </a:solidFill>
          <a:ln w="12700">
            <a:solidFill>
              <a:srgbClr val="0D99AE"/>
            </a:solidFill>
            <a:prstDash val="solid"/>
          </a:ln>
        </p:spPr>
      </p:sp>
      <p:sp>
        <p:nvSpPr>
          <p:cNvPr id="31" name="Text 28"/>
          <p:cNvSpPr txBox="1"/>
          <p:nvPr/>
        </p:nvSpPr>
        <p:spPr>
          <a:xfrm>
            <a:off x="4498848" y="4434840"/>
            <a:ext cx="3246120" cy="347472"/>
          </a:xfrm>
          <a:prstGeom prst="rect">
            <a:avLst/>
          </a:prstGeom>
          <a:noFill/>
          <a:ln/>
        </p:spPr>
        <p:txBody>
          <a:bodyPr wrap="square" lIns="0" tIns="0" rIns="0" bIns="0" rtlCol="0" anchor="ctr"/>
          <a:lstStyle/>
          <a:p>
            <a:pPr indent="0" marL="0">
              <a:buNone/>
            </a:pPr>
            <a:r>
              <a:rPr lang="en-US" sz="1400" b="1" dirty="0">
                <a:solidFill>
                  <a:srgbClr val="0D99AE"/>
                </a:solidFill>
                <a:latin typeface="Georgia" pitchFamily="34" charset="0"/>
                <a:ea typeface="Georgia" pitchFamily="34" charset="-122"/>
                <a:cs typeface="Georgia" pitchFamily="34" charset="-120"/>
              </a:rPr>
              <a:t>Data</a:t>
            </a:r>
            <a:endParaRPr lang="en-US" sz="1400" dirty="0"/>
          </a:p>
        </p:txBody>
      </p:sp>
      <p:sp>
        <p:nvSpPr>
          <p:cNvPr id="32" name="Text 29"/>
          <p:cNvSpPr txBox="1"/>
          <p:nvPr/>
        </p:nvSpPr>
        <p:spPr>
          <a:xfrm>
            <a:off x="4498848" y="4800600"/>
            <a:ext cx="3246120" cy="338328"/>
          </a:xfrm>
          <a:prstGeom prst="rect">
            <a:avLst/>
          </a:prstGeom>
          <a:noFill/>
          <a:ln/>
        </p:spPr>
        <p:txBody>
          <a:bodyPr wrap="square" lIns="0" tIns="0" rIns="0" bIns="0" rtlCol="0" anchor="t"/>
          <a:lstStyle/>
          <a:p>
            <a:pPr indent="0" marL="0">
              <a:buNone/>
            </a:pPr>
            <a:r>
              <a:rPr lang="en-US" sz="1150" dirty="0">
                <a:solidFill>
                  <a:srgbClr val="233A52"/>
                </a:solidFill>
                <a:latin typeface="Aptos" pitchFamily="34" charset="0"/>
                <a:ea typeface="Aptos" pitchFamily="34" charset="-122"/>
                <a:cs typeface="Aptos" pitchFamily="34" charset="-120"/>
              </a:rPr>
              <a:t>PostgreSQL 16 x 5 • pgvector • Flyway per service • Redis 7</a:t>
            </a:r>
            <a:endParaRPr lang="en-US" sz="1150" dirty="0"/>
          </a:p>
        </p:txBody>
      </p:sp>
      <p:sp>
        <p:nvSpPr>
          <p:cNvPr id="33" name="Card Events"/>
          <p:cNvSpPr/>
          <p:nvPr/>
        </p:nvSpPr>
        <p:spPr>
          <a:xfrm>
            <a:off x="8046720" y="4343400"/>
            <a:ext cx="3566160" cy="868680"/>
          </a:xfrm>
          <a:prstGeom prst="roundRect">
            <a:avLst>
              <a:gd name="adj" fmla="val 6316"/>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34" name="Card accent Events"/>
          <p:cNvSpPr/>
          <p:nvPr/>
        </p:nvSpPr>
        <p:spPr>
          <a:xfrm>
            <a:off x="8046720" y="4379976"/>
            <a:ext cx="64008" cy="795528"/>
          </a:xfrm>
          <a:prstGeom prst="rect">
            <a:avLst/>
          </a:prstGeom>
          <a:solidFill>
            <a:srgbClr val="22AC71"/>
          </a:solidFill>
          <a:ln w="12700">
            <a:solidFill>
              <a:srgbClr val="22AC71"/>
            </a:solidFill>
            <a:prstDash val="solid"/>
          </a:ln>
        </p:spPr>
      </p:sp>
      <p:sp>
        <p:nvSpPr>
          <p:cNvPr id="35" name="Text 32"/>
          <p:cNvSpPr txBox="1"/>
          <p:nvPr/>
        </p:nvSpPr>
        <p:spPr>
          <a:xfrm>
            <a:off x="8247888" y="4434840"/>
            <a:ext cx="3246120" cy="347472"/>
          </a:xfrm>
          <a:prstGeom prst="rect">
            <a:avLst/>
          </a:prstGeom>
          <a:noFill/>
          <a:ln/>
        </p:spPr>
        <p:txBody>
          <a:bodyPr wrap="square" lIns="0" tIns="0" rIns="0" bIns="0" rtlCol="0" anchor="ctr"/>
          <a:lstStyle/>
          <a:p>
            <a:pPr indent="0" marL="0">
              <a:buNone/>
            </a:pPr>
            <a:r>
              <a:rPr lang="en-US" sz="1400" b="1" dirty="0">
                <a:solidFill>
                  <a:srgbClr val="22AC71"/>
                </a:solidFill>
                <a:latin typeface="Georgia" pitchFamily="34" charset="0"/>
                <a:ea typeface="Georgia" pitchFamily="34" charset="-122"/>
                <a:cs typeface="Georgia" pitchFamily="34" charset="-120"/>
              </a:rPr>
              <a:t>Events</a:t>
            </a:r>
            <a:endParaRPr lang="en-US" sz="1400" dirty="0"/>
          </a:p>
        </p:txBody>
      </p:sp>
      <p:sp>
        <p:nvSpPr>
          <p:cNvPr id="36" name="Text 33"/>
          <p:cNvSpPr txBox="1"/>
          <p:nvPr/>
        </p:nvSpPr>
        <p:spPr>
          <a:xfrm>
            <a:off x="8247888" y="4800600"/>
            <a:ext cx="3246120" cy="338328"/>
          </a:xfrm>
          <a:prstGeom prst="rect">
            <a:avLst/>
          </a:prstGeom>
          <a:noFill/>
          <a:ln/>
        </p:spPr>
        <p:txBody>
          <a:bodyPr wrap="square" lIns="0" tIns="0" rIns="0" bIns="0" rtlCol="0" anchor="t"/>
          <a:lstStyle/>
          <a:p>
            <a:pPr indent="0" marL="0">
              <a:buNone/>
            </a:pPr>
            <a:r>
              <a:rPr lang="en-US" sz="1150" dirty="0">
                <a:solidFill>
                  <a:srgbClr val="233A52"/>
                </a:solidFill>
                <a:latin typeface="Aptos" pitchFamily="34" charset="0"/>
                <a:ea typeface="Aptos" pitchFamily="34" charset="-122"/>
                <a:cs typeface="Aptos" pitchFamily="34" charset="-120"/>
              </a:rPr>
              <a:t>Kafka • transactional outbox • idempotent readers • dead-letter topic</a:t>
            </a:r>
            <a:endParaRPr lang="en-US" sz="1150" dirty="0"/>
          </a:p>
        </p:txBody>
      </p:sp>
      <p:sp>
        <p:nvSpPr>
          <p:cNvPr id="37" name="Card AI &amp; realtime"/>
          <p:cNvSpPr/>
          <p:nvPr/>
        </p:nvSpPr>
        <p:spPr>
          <a:xfrm>
            <a:off x="548640" y="5330952"/>
            <a:ext cx="3566160" cy="868680"/>
          </a:xfrm>
          <a:prstGeom prst="roundRect">
            <a:avLst>
              <a:gd name="adj" fmla="val 6316"/>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38" name="Card accent AI &amp; realtime"/>
          <p:cNvSpPr/>
          <p:nvPr/>
        </p:nvSpPr>
        <p:spPr>
          <a:xfrm>
            <a:off x="548640" y="5367528"/>
            <a:ext cx="64008" cy="795528"/>
          </a:xfrm>
          <a:prstGeom prst="rect">
            <a:avLst/>
          </a:prstGeom>
          <a:solidFill>
            <a:srgbClr val="2167D2"/>
          </a:solidFill>
          <a:ln w="12700">
            <a:solidFill>
              <a:srgbClr val="2167D2"/>
            </a:solidFill>
            <a:prstDash val="solid"/>
          </a:ln>
        </p:spPr>
      </p:sp>
      <p:sp>
        <p:nvSpPr>
          <p:cNvPr id="39" name="Text 36"/>
          <p:cNvSpPr txBox="1"/>
          <p:nvPr/>
        </p:nvSpPr>
        <p:spPr>
          <a:xfrm>
            <a:off x="749808" y="5422392"/>
            <a:ext cx="3246120" cy="347472"/>
          </a:xfrm>
          <a:prstGeom prst="rect">
            <a:avLst/>
          </a:prstGeom>
          <a:noFill/>
          <a:ln/>
        </p:spPr>
        <p:txBody>
          <a:bodyPr wrap="square" lIns="0" tIns="0" rIns="0" bIns="0" rtlCol="0" anchor="ctr"/>
          <a:lstStyle/>
          <a:p>
            <a:pPr indent="0" marL="0">
              <a:buNone/>
            </a:pPr>
            <a:r>
              <a:rPr lang="en-US" sz="1400" b="1" dirty="0">
                <a:solidFill>
                  <a:srgbClr val="2167D2"/>
                </a:solidFill>
                <a:latin typeface="Georgia" pitchFamily="34" charset="0"/>
                <a:ea typeface="Georgia" pitchFamily="34" charset="-122"/>
                <a:cs typeface="Georgia" pitchFamily="34" charset="-120"/>
              </a:rPr>
              <a:t>AI &amp; realtime</a:t>
            </a:r>
            <a:endParaRPr lang="en-US" sz="1400" dirty="0"/>
          </a:p>
        </p:txBody>
      </p:sp>
      <p:sp>
        <p:nvSpPr>
          <p:cNvPr id="40" name="Text 37"/>
          <p:cNvSpPr txBox="1"/>
          <p:nvPr/>
        </p:nvSpPr>
        <p:spPr>
          <a:xfrm>
            <a:off x="749808" y="5788152"/>
            <a:ext cx="3246120" cy="338328"/>
          </a:xfrm>
          <a:prstGeom prst="rect">
            <a:avLst/>
          </a:prstGeom>
          <a:noFill/>
          <a:ln/>
        </p:spPr>
        <p:txBody>
          <a:bodyPr wrap="square" lIns="0" tIns="0" rIns="0" bIns="0" rtlCol="0" anchor="t"/>
          <a:lstStyle/>
          <a:p>
            <a:pPr indent="0" marL="0">
              <a:buNone/>
            </a:pPr>
            <a:r>
              <a:rPr lang="en-US" sz="1150" dirty="0">
                <a:solidFill>
                  <a:srgbClr val="233A52"/>
                </a:solidFill>
                <a:latin typeface="Aptos" pitchFamily="34" charset="0"/>
                <a:ea typeface="Aptos" pitchFamily="34" charset="-122"/>
                <a:cs typeface="Aptos" pitchFamily="34" charset="-120"/>
              </a:rPr>
              <a:t>Spring AI • Gemini with fallback • RAG • WebSocket / STOMP</a:t>
            </a:r>
            <a:endParaRPr lang="en-US" sz="1150" dirty="0"/>
          </a:p>
        </p:txBody>
      </p:sp>
      <p:sp>
        <p:nvSpPr>
          <p:cNvPr id="41" name="Card Observability"/>
          <p:cNvSpPr/>
          <p:nvPr/>
        </p:nvSpPr>
        <p:spPr>
          <a:xfrm>
            <a:off x="4297680" y="5330952"/>
            <a:ext cx="3566160" cy="868680"/>
          </a:xfrm>
          <a:prstGeom prst="roundRect">
            <a:avLst>
              <a:gd name="adj" fmla="val 6316"/>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42" name="Card accent Observability"/>
          <p:cNvSpPr/>
          <p:nvPr/>
        </p:nvSpPr>
        <p:spPr>
          <a:xfrm>
            <a:off x="4297680" y="5367528"/>
            <a:ext cx="64008" cy="795528"/>
          </a:xfrm>
          <a:prstGeom prst="rect">
            <a:avLst/>
          </a:prstGeom>
          <a:solidFill>
            <a:srgbClr val="0D99AE"/>
          </a:solidFill>
          <a:ln w="12700">
            <a:solidFill>
              <a:srgbClr val="0D99AE"/>
            </a:solidFill>
            <a:prstDash val="solid"/>
          </a:ln>
        </p:spPr>
      </p:sp>
      <p:sp>
        <p:nvSpPr>
          <p:cNvPr id="43" name="Text 40"/>
          <p:cNvSpPr txBox="1"/>
          <p:nvPr/>
        </p:nvSpPr>
        <p:spPr>
          <a:xfrm>
            <a:off x="4498848" y="5422392"/>
            <a:ext cx="3246120" cy="347472"/>
          </a:xfrm>
          <a:prstGeom prst="rect">
            <a:avLst/>
          </a:prstGeom>
          <a:noFill/>
          <a:ln/>
        </p:spPr>
        <p:txBody>
          <a:bodyPr wrap="square" lIns="0" tIns="0" rIns="0" bIns="0" rtlCol="0" anchor="ctr"/>
          <a:lstStyle/>
          <a:p>
            <a:pPr indent="0" marL="0">
              <a:buNone/>
            </a:pPr>
            <a:r>
              <a:rPr lang="en-US" sz="1400" b="1" dirty="0">
                <a:solidFill>
                  <a:srgbClr val="0D99AE"/>
                </a:solidFill>
                <a:latin typeface="Georgia" pitchFamily="34" charset="0"/>
                <a:ea typeface="Georgia" pitchFamily="34" charset="-122"/>
                <a:cs typeface="Georgia" pitchFamily="34" charset="-120"/>
              </a:rPr>
              <a:t>Observability</a:t>
            </a:r>
            <a:endParaRPr lang="en-US" sz="1400" dirty="0"/>
          </a:p>
        </p:txBody>
      </p:sp>
      <p:sp>
        <p:nvSpPr>
          <p:cNvPr id="44" name="Text 41"/>
          <p:cNvSpPr txBox="1"/>
          <p:nvPr/>
        </p:nvSpPr>
        <p:spPr>
          <a:xfrm>
            <a:off x="4498848" y="5788152"/>
            <a:ext cx="3246120" cy="338328"/>
          </a:xfrm>
          <a:prstGeom prst="rect">
            <a:avLst/>
          </a:prstGeom>
          <a:noFill/>
          <a:ln/>
        </p:spPr>
        <p:txBody>
          <a:bodyPr wrap="square" lIns="0" tIns="0" rIns="0" bIns="0" rtlCol="0" anchor="t"/>
          <a:lstStyle/>
          <a:p>
            <a:pPr indent="0" marL="0">
              <a:buNone/>
            </a:pPr>
            <a:r>
              <a:rPr lang="en-US" sz="1150" dirty="0">
                <a:solidFill>
                  <a:srgbClr val="233A52"/>
                </a:solidFill>
                <a:latin typeface="Aptos" pitchFamily="34" charset="0"/>
                <a:ea typeface="Aptos" pitchFamily="34" charset="-122"/>
                <a:cs typeface="Aptos" pitchFamily="34" charset="-120"/>
              </a:rPr>
              <a:t>Prometheus • Grafana • Loki • Tempo • correlation ids</a:t>
            </a:r>
            <a:endParaRPr lang="en-US" sz="1150" dirty="0"/>
          </a:p>
        </p:txBody>
      </p:sp>
      <p:sp>
        <p:nvSpPr>
          <p:cNvPr id="45" name="Card Delivery &amp; quality"/>
          <p:cNvSpPr/>
          <p:nvPr/>
        </p:nvSpPr>
        <p:spPr>
          <a:xfrm>
            <a:off x="8046720" y="5330952"/>
            <a:ext cx="3566160" cy="868680"/>
          </a:xfrm>
          <a:prstGeom prst="roundRect">
            <a:avLst>
              <a:gd name="adj" fmla="val 6316"/>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46" name="Card accent Delivery &amp; quality"/>
          <p:cNvSpPr/>
          <p:nvPr/>
        </p:nvSpPr>
        <p:spPr>
          <a:xfrm>
            <a:off x="8046720" y="5367528"/>
            <a:ext cx="64008" cy="795528"/>
          </a:xfrm>
          <a:prstGeom prst="rect">
            <a:avLst/>
          </a:prstGeom>
          <a:solidFill>
            <a:srgbClr val="22AC71"/>
          </a:solidFill>
          <a:ln w="12700">
            <a:solidFill>
              <a:srgbClr val="22AC71"/>
            </a:solidFill>
            <a:prstDash val="solid"/>
          </a:ln>
        </p:spPr>
      </p:sp>
      <p:sp>
        <p:nvSpPr>
          <p:cNvPr id="47" name="Text 44"/>
          <p:cNvSpPr txBox="1"/>
          <p:nvPr/>
        </p:nvSpPr>
        <p:spPr>
          <a:xfrm>
            <a:off x="8247888" y="5422392"/>
            <a:ext cx="3246120" cy="347472"/>
          </a:xfrm>
          <a:prstGeom prst="rect">
            <a:avLst/>
          </a:prstGeom>
          <a:noFill/>
          <a:ln/>
        </p:spPr>
        <p:txBody>
          <a:bodyPr wrap="square" lIns="0" tIns="0" rIns="0" bIns="0" rtlCol="0" anchor="ctr"/>
          <a:lstStyle/>
          <a:p>
            <a:pPr indent="0" marL="0">
              <a:buNone/>
            </a:pPr>
            <a:r>
              <a:rPr lang="en-US" sz="1400" b="1" dirty="0">
                <a:solidFill>
                  <a:srgbClr val="22AC71"/>
                </a:solidFill>
                <a:latin typeface="Georgia" pitchFamily="34" charset="0"/>
                <a:ea typeface="Georgia" pitchFamily="34" charset="-122"/>
                <a:cs typeface="Georgia" pitchFamily="34" charset="-120"/>
              </a:rPr>
              <a:t>Delivery &amp; quality</a:t>
            </a:r>
            <a:endParaRPr lang="en-US" sz="1400" dirty="0"/>
          </a:p>
        </p:txBody>
      </p:sp>
      <p:sp>
        <p:nvSpPr>
          <p:cNvPr id="48" name="Text 45"/>
          <p:cNvSpPr txBox="1"/>
          <p:nvPr/>
        </p:nvSpPr>
        <p:spPr>
          <a:xfrm>
            <a:off x="8247888" y="5788152"/>
            <a:ext cx="3246120" cy="338328"/>
          </a:xfrm>
          <a:prstGeom prst="rect">
            <a:avLst/>
          </a:prstGeom>
          <a:noFill/>
          <a:ln/>
        </p:spPr>
        <p:txBody>
          <a:bodyPr wrap="square" lIns="0" tIns="0" rIns="0" bIns="0" rtlCol="0" anchor="t"/>
          <a:lstStyle/>
          <a:p>
            <a:pPr indent="0" marL="0">
              <a:buNone/>
            </a:pPr>
            <a:r>
              <a:rPr lang="en-US" sz="1150" dirty="0">
                <a:solidFill>
                  <a:srgbClr val="233A52"/>
                </a:solidFill>
                <a:latin typeface="Aptos" pitchFamily="34" charset="0"/>
                <a:ea typeface="Aptos" pitchFamily="34" charset="-122"/>
                <a:cs typeface="Aptos" pitchFamily="34" charset="-120"/>
              </a:rPr>
              <a:t>Docker Compose • React + TypeScript • 1,610 automated tests</a:t>
            </a:r>
            <a:endParaRPr lang="en-US" sz="1150" dirty="0"/>
          </a:p>
        </p:txBody>
      </p:sp>
      <p:sp>
        <p:nvSpPr>
          <p:cNvPr id="49" name="Text 46"/>
          <p:cNvSpPr txBox="1"/>
          <p:nvPr/>
        </p:nvSpPr>
        <p:spPr>
          <a:xfrm>
            <a:off x="548640" y="6400800"/>
            <a:ext cx="11064240" cy="274320"/>
          </a:xfrm>
          <a:prstGeom prst="rect">
            <a:avLst/>
          </a:prstGeom>
          <a:noFill/>
          <a:ln/>
        </p:spPr>
        <p:txBody>
          <a:bodyPr wrap="square" lIns="0" tIns="0" rIns="0" bIns="0" rtlCol="0" anchor="ctr"/>
          <a:lstStyle/>
          <a:p>
            <a:pPr algn="ctr" indent="0" marL="0">
              <a:buNone/>
            </a:pPr>
            <a:r>
              <a:rPr lang="en-US" sz="1100" dirty="0">
                <a:solidFill>
                  <a:srgbClr val="536980"/>
                </a:solidFill>
                <a:latin typeface="Aptos" pitchFamily="34" charset="0"/>
                <a:ea typeface="Aptos" pitchFamily="34" charset="-122"/>
                <a:cs typeface="Aptos" pitchFamily="34" charset="-120"/>
              </a:rPr>
              <a:t>AI explains stored evidence; it does not decide grades, attendance or eligibility.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cademian logo">    </p:cNvPr>
          <p:cNvPicPr>
            <a:picLocks noChangeAspect="1"/>
          </p:cNvPicPr>
          <p:nvPr/>
        </p:nvPicPr>
        <p:blipFill>
          <a:blip r:embed="rId2"/>
          <a:stretch>
            <a:fillRect/>
          </a:stretch>
        </p:blipFill>
        <p:spPr>
          <a:xfrm>
            <a:off x="10634472" y="457200"/>
            <a:ext cx="1051560" cy="228600"/>
          </a:xfrm>
          <a:prstGeom prst="rect">
            <a:avLst/>
          </a:prstGeom>
        </p:spPr>
      </p:pic>
      <p:sp>
        <p:nvSpPr>
          <p:cNvPr id="3" name="Text 0"/>
          <p:cNvSpPr txBox="1"/>
          <p:nvPr/>
        </p:nvSpPr>
        <p:spPr>
          <a:xfrm>
            <a:off x="7680960" y="201168"/>
            <a:ext cx="4023360" cy="228600"/>
          </a:xfrm>
          <a:prstGeom prst="rect">
            <a:avLst/>
          </a:prstGeom>
          <a:noFill/>
          <a:ln/>
        </p:spPr>
        <p:txBody>
          <a:bodyPr wrap="square" lIns="0" tIns="0" rIns="0" bIns="0" rtlCol="0" anchor="ctr"/>
          <a:lstStyle/>
          <a:p>
            <a:pPr algn="r" indent="0" marL="0">
              <a:buNone/>
            </a:pPr>
            <a:r>
              <a:rPr lang="en-US" sz="900" b="1" dirty="0">
                <a:solidFill>
                  <a:srgbClr val="2167D2"/>
                </a:solidFill>
                <a:latin typeface="Consolas" pitchFamily="34" charset="0"/>
                <a:ea typeface="Consolas" pitchFamily="34" charset="-122"/>
                <a:cs typeface="Consolas" pitchFamily="34" charset="-120"/>
              </a:rPr>
              <a:t>ONE IMAGE, NINE ROLES</a:t>
            </a:r>
            <a:endParaRPr lang="en-US" sz="900" dirty="0"/>
          </a:p>
        </p:txBody>
      </p:sp>
      <p:sp>
        <p:nvSpPr>
          <p:cNvPr id="4" name="Text 1"/>
          <p:cNvSpPr txBox="1"/>
          <p:nvPr/>
        </p:nvSpPr>
        <p:spPr>
          <a:xfrm>
            <a:off x="548640" y="274320"/>
            <a:ext cx="9875520" cy="640080"/>
          </a:xfrm>
          <a:prstGeom prst="rect">
            <a:avLst/>
          </a:prstGeom>
          <a:noFill/>
          <a:ln/>
        </p:spPr>
        <p:txBody>
          <a:bodyPr wrap="square" lIns="0" tIns="0" rIns="0" bIns="0" rtlCol="0" anchor="ctr"/>
          <a:lstStyle/>
          <a:p>
            <a:pPr indent="0" marL="0">
              <a:buNone/>
            </a:pPr>
            <a:r>
              <a:rPr lang="en-US" sz="2800" b="1" dirty="0">
                <a:solidFill>
                  <a:srgbClr val="0F2F53"/>
                </a:solidFill>
                <a:latin typeface="Georgia" pitchFamily="34" charset="0"/>
                <a:ea typeface="Georgia" pitchFamily="34" charset="-122"/>
                <a:cs typeface="Georgia" pitchFamily="34" charset="-120"/>
              </a:rPr>
              <a:t>Setu: the services and who owns which data</a:t>
            </a:r>
            <a:endParaRPr lang="en-US" sz="2800" dirty="0"/>
          </a:p>
        </p:txBody>
      </p:sp>
      <p:sp>
        <p:nvSpPr>
          <p:cNvPr id="5" name="Card Web app: React + TypeScript"/>
          <p:cNvSpPr/>
          <p:nvPr/>
        </p:nvSpPr>
        <p:spPr>
          <a:xfrm>
            <a:off x="548640" y="1097280"/>
            <a:ext cx="4754880" cy="777240"/>
          </a:xfrm>
          <a:prstGeom prst="roundRect">
            <a:avLst>
              <a:gd name="adj" fmla="val 7059"/>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6" name="Card accent Web app: React + TypeScript"/>
          <p:cNvSpPr/>
          <p:nvPr/>
        </p:nvSpPr>
        <p:spPr>
          <a:xfrm>
            <a:off x="548640" y="1133856"/>
            <a:ext cx="64008" cy="704088"/>
          </a:xfrm>
          <a:prstGeom prst="rect">
            <a:avLst/>
          </a:prstGeom>
          <a:solidFill>
            <a:srgbClr val="2167D2"/>
          </a:solidFill>
          <a:ln w="12700">
            <a:solidFill>
              <a:srgbClr val="2167D2"/>
            </a:solidFill>
            <a:prstDash val="solid"/>
          </a:ln>
        </p:spPr>
      </p:sp>
      <p:sp>
        <p:nvSpPr>
          <p:cNvPr id="7" name="Text 4"/>
          <p:cNvSpPr txBox="1"/>
          <p:nvPr/>
        </p:nvSpPr>
        <p:spPr>
          <a:xfrm>
            <a:off x="749808" y="1188720"/>
            <a:ext cx="4434840" cy="347472"/>
          </a:xfrm>
          <a:prstGeom prst="rect">
            <a:avLst/>
          </a:prstGeom>
          <a:noFill/>
          <a:ln/>
        </p:spPr>
        <p:txBody>
          <a:bodyPr wrap="square" lIns="0" tIns="0" rIns="0" bIns="0" rtlCol="0" anchor="ctr"/>
          <a:lstStyle/>
          <a:p>
            <a:pPr indent="0" marL="0">
              <a:buNone/>
            </a:pPr>
            <a:r>
              <a:rPr lang="en-US" sz="1500" b="1" dirty="0">
                <a:solidFill>
                  <a:srgbClr val="2167D2"/>
                </a:solidFill>
                <a:latin typeface="Georgia" pitchFamily="34" charset="0"/>
                <a:ea typeface="Georgia" pitchFamily="34" charset="-122"/>
                <a:cs typeface="Georgia" pitchFamily="34" charset="-120"/>
              </a:rPr>
              <a:t>Web app: React + TypeScript</a:t>
            </a:r>
            <a:endParaRPr lang="en-US" sz="1500" dirty="0"/>
          </a:p>
        </p:txBody>
      </p:sp>
      <p:sp>
        <p:nvSpPr>
          <p:cNvPr id="8" name="Text 5"/>
          <p:cNvSpPr txBox="1"/>
          <p:nvPr/>
        </p:nvSpPr>
        <p:spPr>
          <a:xfrm>
            <a:off x="749808" y="1554480"/>
            <a:ext cx="4434840" cy="246888"/>
          </a:xfrm>
          <a:prstGeom prst="rect">
            <a:avLst/>
          </a:prstGeom>
          <a:noFill/>
          <a:ln/>
        </p:spPr>
        <p:txBody>
          <a:bodyPr wrap="square" lIns="0" tIns="0" rIns="0" bIns="0" rtlCol="0" anchor="t"/>
          <a:lstStyle/>
          <a:p>
            <a:pPr indent="0" marL="0">
              <a:buNone/>
            </a:pPr>
            <a:r>
              <a:rPr lang="en-US" sz="1200" dirty="0">
                <a:solidFill>
                  <a:srgbClr val="233A52"/>
                </a:solidFill>
                <a:latin typeface="Aptos" pitchFamily="34" charset="0"/>
                <a:ea typeface="Aptos" pitchFamily="34" charset="-122"/>
                <a:cs typeface="Aptos" pitchFamily="34" charset="-120"/>
              </a:rPr>
              <a:t>Role dashboards with live updates</a:t>
            </a:r>
            <a:endParaRPr lang="en-US" sz="1200" dirty="0"/>
          </a:p>
        </p:txBody>
      </p:sp>
      <p:sp>
        <p:nvSpPr>
          <p:cNvPr id="9" name="Arrow"/>
          <p:cNvSpPr/>
          <p:nvPr/>
        </p:nvSpPr>
        <p:spPr>
          <a:xfrm>
            <a:off x="5349240" y="1481328"/>
            <a:ext cx="411480" cy="0"/>
          </a:xfrm>
          <a:prstGeom prst="line">
            <a:avLst/>
          </a:prstGeom>
          <a:noFill/>
          <a:ln w="19050">
            <a:solidFill>
              <a:srgbClr val="0F2F53"/>
            </a:solidFill>
            <a:prstDash val="solid"/>
            <a:tailEnd type="triangle"/>
          </a:ln>
        </p:spPr>
      </p:sp>
      <p:sp>
        <p:nvSpPr>
          <p:cNvPr id="10" name="Card Gateway: the only way in"/>
          <p:cNvSpPr/>
          <p:nvPr/>
        </p:nvSpPr>
        <p:spPr>
          <a:xfrm>
            <a:off x="5806440" y="1097280"/>
            <a:ext cx="5806440" cy="777240"/>
          </a:xfrm>
          <a:prstGeom prst="roundRect">
            <a:avLst>
              <a:gd name="adj" fmla="val 7059"/>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11" name="Card accent Gateway: the only way in"/>
          <p:cNvSpPr/>
          <p:nvPr/>
        </p:nvSpPr>
        <p:spPr>
          <a:xfrm>
            <a:off x="5806440" y="1133856"/>
            <a:ext cx="64008" cy="704088"/>
          </a:xfrm>
          <a:prstGeom prst="rect">
            <a:avLst/>
          </a:prstGeom>
          <a:solidFill>
            <a:srgbClr val="0D99AE"/>
          </a:solidFill>
          <a:ln w="12700">
            <a:solidFill>
              <a:srgbClr val="0D99AE"/>
            </a:solidFill>
            <a:prstDash val="solid"/>
          </a:ln>
        </p:spPr>
      </p:sp>
      <p:sp>
        <p:nvSpPr>
          <p:cNvPr id="12" name="Text 9"/>
          <p:cNvSpPr txBox="1"/>
          <p:nvPr/>
        </p:nvSpPr>
        <p:spPr>
          <a:xfrm>
            <a:off x="6007608" y="1188720"/>
            <a:ext cx="5486400" cy="347472"/>
          </a:xfrm>
          <a:prstGeom prst="rect">
            <a:avLst/>
          </a:prstGeom>
          <a:noFill/>
          <a:ln/>
        </p:spPr>
        <p:txBody>
          <a:bodyPr wrap="square" lIns="0" tIns="0" rIns="0" bIns="0" rtlCol="0" anchor="ctr"/>
          <a:lstStyle/>
          <a:p>
            <a:pPr indent="0" marL="0">
              <a:buNone/>
            </a:pPr>
            <a:r>
              <a:rPr lang="en-US" sz="1500" b="1" dirty="0">
                <a:solidFill>
                  <a:srgbClr val="0D99AE"/>
                </a:solidFill>
                <a:latin typeface="Georgia" pitchFamily="34" charset="0"/>
                <a:ea typeface="Georgia" pitchFamily="34" charset="-122"/>
                <a:cs typeface="Georgia" pitchFamily="34" charset="-120"/>
              </a:rPr>
              <a:t>Gateway: the only way in</a:t>
            </a:r>
            <a:endParaRPr lang="en-US" sz="1500" dirty="0"/>
          </a:p>
        </p:txBody>
      </p:sp>
      <p:sp>
        <p:nvSpPr>
          <p:cNvPr id="13" name="Text 10"/>
          <p:cNvSpPr txBox="1"/>
          <p:nvPr/>
        </p:nvSpPr>
        <p:spPr>
          <a:xfrm>
            <a:off x="6007608" y="1554480"/>
            <a:ext cx="5486400" cy="246888"/>
          </a:xfrm>
          <a:prstGeom prst="rect">
            <a:avLst/>
          </a:prstGeom>
          <a:noFill/>
          <a:ln/>
        </p:spPr>
        <p:txBody>
          <a:bodyPr wrap="square" lIns="0" tIns="0" rIns="0" bIns="0" rtlCol="0" anchor="t"/>
          <a:lstStyle/>
          <a:p>
            <a:pPr indent="0" marL="0">
              <a:buNone/>
            </a:pPr>
            <a:r>
              <a:rPr lang="en-US" sz="1200" dirty="0">
                <a:solidFill>
                  <a:srgbClr val="233A52"/>
                </a:solidFill>
                <a:latin typeface="Aptos" pitchFamily="34" charset="0"/>
                <a:ea typeface="Aptos" pitchFamily="34" charset="-122"/>
                <a:cs typeface="Aptos" pitchFamily="34" charset="-120"/>
              </a:rPr>
              <a:t>Checks the JWT • rate-limits • adds a correlation id • routes by path</a:t>
            </a:r>
            <a:endParaRPr lang="en-US" sz="1200" dirty="0"/>
          </a:p>
        </p:txBody>
      </p:sp>
      <p:sp>
        <p:nvSpPr>
          <p:cNvPr id="14" name="Services container"/>
          <p:cNvSpPr/>
          <p:nvPr/>
        </p:nvSpPr>
        <p:spPr>
          <a:xfrm>
            <a:off x="548640" y="2103120"/>
            <a:ext cx="11064240" cy="2971800"/>
          </a:xfrm>
          <a:prstGeom prst="roundRect">
            <a:avLst>
              <a:gd name="adj" fmla="val 7692"/>
            </a:avLst>
          </a:prstGeom>
          <a:solidFill>
            <a:srgbClr val="F7FAFD">
              <a:alpha val="75000"/>
            </a:srgbClr>
          </a:solidFill>
          <a:ln w="19050">
            <a:solidFill>
              <a:srgbClr val="0F2F53"/>
            </a:solidFill>
            <a:prstDash val="solid"/>
          </a:ln>
        </p:spPr>
      </p:sp>
      <p:sp>
        <p:nvSpPr>
          <p:cNvPr id="15" name="Text 12"/>
          <p:cNvSpPr txBox="1"/>
          <p:nvPr/>
        </p:nvSpPr>
        <p:spPr>
          <a:xfrm>
            <a:off x="777240" y="2176272"/>
            <a:ext cx="6400800" cy="365760"/>
          </a:xfrm>
          <a:prstGeom prst="rect">
            <a:avLst/>
          </a:prstGeom>
          <a:noFill/>
          <a:ln/>
        </p:spPr>
        <p:txBody>
          <a:bodyPr wrap="square" lIns="0" tIns="0" rIns="0" bIns="0" rtlCol="0" anchor="ctr"/>
          <a:lstStyle/>
          <a:p>
            <a:pPr indent="0" marL="0">
              <a:buNone/>
            </a:pPr>
            <a:r>
              <a:rPr lang="en-US" sz="1700" b="1" dirty="0">
                <a:solidFill>
                  <a:srgbClr val="0F2F53"/>
                </a:solidFill>
                <a:latin typeface="Georgia" pitchFamily="34" charset="0"/>
                <a:ea typeface="Georgia" pitchFamily="34" charset="-122"/>
                <a:cs typeface="Georgia" pitchFamily="34" charset="-120"/>
              </a:rPr>
              <a:t>Behind the gateway: seven services and the core</a:t>
            </a:r>
            <a:endParaRPr lang="en-US" sz="1700" dirty="0"/>
          </a:p>
        </p:txBody>
      </p:sp>
      <p:sp>
        <p:nvSpPr>
          <p:cNvPr id="16" name="Card Identity"/>
          <p:cNvSpPr/>
          <p:nvPr/>
        </p:nvSpPr>
        <p:spPr>
          <a:xfrm>
            <a:off x="749808" y="2633472"/>
            <a:ext cx="2560320" cy="1078992"/>
          </a:xfrm>
          <a:prstGeom prst="roundRect">
            <a:avLst>
              <a:gd name="adj" fmla="val 5085"/>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17" name="Card accent Identity"/>
          <p:cNvSpPr/>
          <p:nvPr/>
        </p:nvSpPr>
        <p:spPr>
          <a:xfrm>
            <a:off x="749808" y="2670048"/>
            <a:ext cx="64008" cy="1005840"/>
          </a:xfrm>
          <a:prstGeom prst="rect">
            <a:avLst/>
          </a:prstGeom>
          <a:solidFill>
            <a:srgbClr val="2167D2"/>
          </a:solidFill>
          <a:ln w="12700">
            <a:solidFill>
              <a:srgbClr val="2167D2"/>
            </a:solidFill>
            <a:prstDash val="solid"/>
          </a:ln>
        </p:spPr>
      </p:sp>
      <p:sp>
        <p:nvSpPr>
          <p:cNvPr id="18" name="Text 15"/>
          <p:cNvSpPr txBox="1"/>
          <p:nvPr/>
        </p:nvSpPr>
        <p:spPr>
          <a:xfrm>
            <a:off x="950976" y="2724912"/>
            <a:ext cx="2240280" cy="347472"/>
          </a:xfrm>
          <a:prstGeom prst="rect">
            <a:avLst/>
          </a:prstGeom>
          <a:noFill/>
          <a:ln/>
        </p:spPr>
        <p:txBody>
          <a:bodyPr wrap="square" lIns="0" tIns="0" rIns="0" bIns="0" rtlCol="0" anchor="ctr"/>
          <a:lstStyle/>
          <a:p>
            <a:pPr indent="0" marL="0">
              <a:buNone/>
            </a:pPr>
            <a:r>
              <a:rPr lang="en-US" sz="1400" b="1" dirty="0">
                <a:solidFill>
                  <a:srgbClr val="2167D2"/>
                </a:solidFill>
                <a:latin typeface="Georgia" pitchFamily="34" charset="0"/>
                <a:ea typeface="Georgia" pitchFamily="34" charset="-122"/>
                <a:cs typeface="Georgia" pitchFamily="34" charset="-120"/>
              </a:rPr>
              <a:t>Identity</a:t>
            </a:r>
            <a:endParaRPr lang="en-US" sz="1400" dirty="0"/>
          </a:p>
        </p:txBody>
      </p:sp>
      <p:sp>
        <p:nvSpPr>
          <p:cNvPr id="19" name="Text 16"/>
          <p:cNvSpPr txBox="1"/>
          <p:nvPr/>
        </p:nvSpPr>
        <p:spPr>
          <a:xfrm>
            <a:off x="950976" y="3090672"/>
            <a:ext cx="2240280" cy="548640"/>
          </a:xfrm>
          <a:prstGeom prst="rect">
            <a:avLst/>
          </a:prstGeom>
          <a:noFill/>
          <a:ln/>
        </p:spPr>
        <p:txBody>
          <a:bodyPr wrap="square" lIns="0" tIns="0" rIns="0" bIns="0" rtlCol="0" anchor="t"/>
          <a:lstStyle/>
          <a:p>
            <a:pPr indent="0" marL="0">
              <a:buNone/>
            </a:pPr>
            <a:r>
              <a:rPr lang="en-US" sz="1100" dirty="0">
                <a:solidFill>
                  <a:srgbClr val="233A52"/>
                </a:solidFill>
                <a:latin typeface="Aptos" pitchFamily="34" charset="0"/>
                <a:ea typeface="Aptos" pitchFamily="34" charset="-122"/>
                <a:cs typeface="Aptos" pitchFamily="34" charset="-120"/>
              </a:rPr>
              <a:t>Passkeys • tokens • sessions</a:t>
            </a:r>
            <a:endParaRPr lang="en-US" sz="1100" dirty="0"/>
          </a:p>
          <a:p>
            <a:pPr indent="0" marL="0">
              <a:buNone/>
            </a:pPr>
            <a:r>
              <a:rPr lang="en-US" sz="1100" dirty="0">
                <a:solidFill>
                  <a:srgbClr val="233A52"/>
                </a:solidFill>
                <a:latin typeface="Aptos" pitchFamily="34" charset="0"/>
                <a:ea typeface="Aptos" pitchFamily="34" charset="-122"/>
                <a:cs typeface="Aptos" pitchFamily="34" charset="-120"/>
              </a:rPr>
              <a:t>shared PostgreSQL</a:t>
            </a:r>
            <a:endParaRPr lang="en-US" sz="1100" dirty="0"/>
          </a:p>
        </p:txBody>
      </p:sp>
      <p:sp>
        <p:nvSpPr>
          <p:cNvPr id="20" name="Card Academic"/>
          <p:cNvSpPr/>
          <p:nvPr/>
        </p:nvSpPr>
        <p:spPr>
          <a:xfrm>
            <a:off x="3447288" y="2633472"/>
            <a:ext cx="2560320" cy="1078992"/>
          </a:xfrm>
          <a:prstGeom prst="roundRect">
            <a:avLst>
              <a:gd name="adj" fmla="val 5085"/>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21" name="Card accent Academic"/>
          <p:cNvSpPr/>
          <p:nvPr/>
        </p:nvSpPr>
        <p:spPr>
          <a:xfrm>
            <a:off x="3447288" y="2670048"/>
            <a:ext cx="64008" cy="1005840"/>
          </a:xfrm>
          <a:prstGeom prst="rect">
            <a:avLst/>
          </a:prstGeom>
          <a:solidFill>
            <a:srgbClr val="2167D2"/>
          </a:solidFill>
          <a:ln w="12700">
            <a:solidFill>
              <a:srgbClr val="2167D2"/>
            </a:solidFill>
            <a:prstDash val="solid"/>
          </a:ln>
        </p:spPr>
      </p:sp>
      <p:sp>
        <p:nvSpPr>
          <p:cNvPr id="22" name="Text 19"/>
          <p:cNvSpPr txBox="1"/>
          <p:nvPr/>
        </p:nvSpPr>
        <p:spPr>
          <a:xfrm>
            <a:off x="3648456" y="2724912"/>
            <a:ext cx="2240280" cy="347472"/>
          </a:xfrm>
          <a:prstGeom prst="rect">
            <a:avLst/>
          </a:prstGeom>
          <a:noFill/>
          <a:ln/>
        </p:spPr>
        <p:txBody>
          <a:bodyPr wrap="square" lIns="0" tIns="0" rIns="0" bIns="0" rtlCol="0" anchor="ctr"/>
          <a:lstStyle/>
          <a:p>
            <a:pPr indent="0" marL="0">
              <a:buNone/>
            </a:pPr>
            <a:r>
              <a:rPr lang="en-US" sz="1400" b="1" dirty="0">
                <a:solidFill>
                  <a:srgbClr val="2167D2"/>
                </a:solidFill>
                <a:latin typeface="Georgia" pitchFamily="34" charset="0"/>
                <a:ea typeface="Georgia" pitchFamily="34" charset="-122"/>
                <a:cs typeface="Georgia" pitchFamily="34" charset="-120"/>
              </a:rPr>
              <a:t>Academic</a:t>
            </a:r>
            <a:endParaRPr lang="en-US" sz="1400" dirty="0"/>
          </a:p>
        </p:txBody>
      </p:sp>
      <p:sp>
        <p:nvSpPr>
          <p:cNvPr id="23" name="Text 20"/>
          <p:cNvSpPr txBox="1"/>
          <p:nvPr/>
        </p:nvSpPr>
        <p:spPr>
          <a:xfrm>
            <a:off x="3648456" y="3090672"/>
            <a:ext cx="2240280" cy="548640"/>
          </a:xfrm>
          <a:prstGeom prst="rect">
            <a:avLst/>
          </a:prstGeom>
          <a:noFill/>
          <a:ln/>
        </p:spPr>
        <p:txBody>
          <a:bodyPr wrap="square" lIns="0" tIns="0" rIns="0" bIns="0" rtlCol="0" anchor="t"/>
          <a:lstStyle/>
          <a:p>
            <a:pPr indent="0" marL="0">
              <a:buNone/>
            </a:pPr>
            <a:r>
              <a:rPr lang="en-US" sz="1100" dirty="0">
                <a:solidFill>
                  <a:srgbClr val="233A52"/>
                </a:solidFill>
                <a:latin typeface="Aptos" pitchFamily="34" charset="0"/>
                <a:ea typeface="Aptos" pitchFamily="34" charset="-122"/>
                <a:cs typeface="Aptos" pitchFamily="34" charset="-120"/>
              </a:rPr>
              <a:t>Institutions • courses • enrollment</a:t>
            </a:r>
            <a:endParaRPr lang="en-US" sz="1100" dirty="0"/>
          </a:p>
          <a:p>
            <a:pPr indent="0" marL="0">
              <a:buNone/>
            </a:pPr>
            <a:r>
              <a:rPr lang="en-US" sz="1100" dirty="0">
                <a:solidFill>
                  <a:srgbClr val="233A52"/>
                </a:solidFill>
                <a:latin typeface="Aptos" pitchFamily="34" charset="0"/>
                <a:ea typeface="Aptos" pitchFamily="34" charset="-122"/>
                <a:cs typeface="Aptos" pitchFamily="34" charset="-120"/>
              </a:rPr>
              <a:t>shared PostgreSQL</a:t>
            </a:r>
            <a:endParaRPr lang="en-US" sz="1100" dirty="0"/>
          </a:p>
        </p:txBody>
      </p:sp>
      <p:sp>
        <p:nvSpPr>
          <p:cNvPr id="24" name="Card Core"/>
          <p:cNvSpPr/>
          <p:nvPr/>
        </p:nvSpPr>
        <p:spPr>
          <a:xfrm>
            <a:off x="6144768" y="2633472"/>
            <a:ext cx="2560320" cy="1078992"/>
          </a:xfrm>
          <a:prstGeom prst="roundRect">
            <a:avLst>
              <a:gd name="adj" fmla="val 5085"/>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25" name="Card accent Core"/>
          <p:cNvSpPr/>
          <p:nvPr/>
        </p:nvSpPr>
        <p:spPr>
          <a:xfrm>
            <a:off x="6144768" y="2670048"/>
            <a:ext cx="64008" cy="1005840"/>
          </a:xfrm>
          <a:prstGeom prst="rect">
            <a:avLst/>
          </a:prstGeom>
          <a:solidFill>
            <a:srgbClr val="2167D2"/>
          </a:solidFill>
          <a:ln w="12700">
            <a:solidFill>
              <a:srgbClr val="2167D2"/>
            </a:solidFill>
            <a:prstDash val="solid"/>
          </a:ln>
        </p:spPr>
      </p:sp>
      <p:sp>
        <p:nvSpPr>
          <p:cNvPr id="26" name="Text 23"/>
          <p:cNvSpPr txBox="1"/>
          <p:nvPr/>
        </p:nvSpPr>
        <p:spPr>
          <a:xfrm>
            <a:off x="6345936" y="2724912"/>
            <a:ext cx="2240280" cy="347472"/>
          </a:xfrm>
          <a:prstGeom prst="rect">
            <a:avLst/>
          </a:prstGeom>
          <a:noFill/>
          <a:ln/>
        </p:spPr>
        <p:txBody>
          <a:bodyPr wrap="square" lIns="0" tIns="0" rIns="0" bIns="0" rtlCol="0" anchor="ctr"/>
          <a:lstStyle/>
          <a:p>
            <a:pPr indent="0" marL="0">
              <a:buNone/>
            </a:pPr>
            <a:r>
              <a:rPr lang="en-US" sz="1400" b="1" dirty="0">
                <a:solidFill>
                  <a:srgbClr val="2167D2"/>
                </a:solidFill>
                <a:latin typeface="Georgia" pitchFamily="34" charset="0"/>
                <a:ea typeface="Georgia" pitchFamily="34" charset="-122"/>
                <a:cs typeface="Georgia" pitchFamily="34" charset="-120"/>
              </a:rPr>
              <a:t>Core</a:t>
            </a:r>
            <a:endParaRPr lang="en-US" sz="1400" dirty="0"/>
          </a:p>
        </p:txBody>
      </p:sp>
      <p:sp>
        <p:nvSpPr>
          <p:cNvPr id="27" name="Text 24"/>
          <p:cNvSpPr txBox="1"/>
          <p:nvPr/>
        </p:nvSpPr>
        <p:spPr>
          <a:xfrm>
            <a:off x="6345936" y="3090672"/>
            <a:ext cx="2240280" cy="548640"/>
          </a:xfrm>
          <a:prstGeom prst="rect">
            <a:avLst/>
          </a:prstGeom>
          <a:noFill/>
          <a:ln/>
        </p:spPr>
        <p:txBody>
          <a:bodyPr wrap="square" lIns="0" tIns="0" rIns="0" bIns="0" rtlCol="0" anchor="t"/>
          <a:lstStyle/>
          <a:p>
            <a:pPr indent="0" marL="0">
              <a:buNone/>
            </a:pPr>
            <a:r>
              <a:rPr lang="en-US" sz="1100" dirty="0">
                <a:solidFill>
                  <a:srgbClr val="233A52"/>
                </a:solidFill>
                <a:latin typeface="Aptos" pitchFamily="34" charset="0"/>
                <a:ea typeface="Aptos" pitchFamily="34" charset="-122"/>
                <a:cs typeface="Aptos" pitchFamily="34" charset="-120"/>
              </a:rPr>
              <a:t>Finance • careers • records • risk</a:t>
            </a:r>
            <a:endParaRPr lang="en-US" sz="1100" dirty="0"/>
          </a:p>
          <a:p>
            <a:pPr indent="0" marL="0">
              <a:buNone/>
            </a:pPr>
            <a:r>
              <a:rPr lang="en-US" sz="1100" dirty="0">
                <a:solidFill>
                  <a:srgbClr val="233A52"/>
                </a:solidFill>
                <a:latin typeface="Aptos" pitchFamily="34" charset="0"/>
                <a:ea typeface="Aptos" pitchFamily="34" charset="-122"/>
                <a:cs typeface="Aptos" pitchFamily="34" charset="-120"/>
              </a:rPr>
              <a:t>shared PostgreSQL</a:t>
            </a:r>
            <a:endParaRPr lang="en-US" sz="1100" dirty="0"/>
          </a:p>
        </p:txBody>
      </p:sp>
      <p:sp>
        <p:nvSpPr>
          <p:cNvPr id="28" name="Card AI service"/>
          <p:cNvSpPr/>
          <p:nvPr/>
        </p:nvSpPr>
        <p:spPr>
          <a:xfrm>
            <a:off x="8842248" y="2633472"/>
            <a:ext cx="2560320" cy="1078992"/>
          </a:xfrm>
          <a:prstGeom prst="roundRect">
            <a:avLst>
              <a:gd name="adj" fmla="val 5085"/>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29" name="Card accent AI service"/>
          <p:cNvSpPr/>
          <p:nvPr/>
        </p:nvSpPr>
        <p:spPr>
          <a:xfrm>
            <a:off x="8842248" y="2670048"/>
            <a:ext cx="64008" cy="1005840"/>
          </a:xfrm>
          <a:prstGeom prst="rect">
            <a:avLst/>
          </a:prstGeom>
          <a:solidFill>
            <a:srgbClr val="22AC71"/>
          </a:solidFill>
          <a:ln w="12700">
            <a:solidFill>
              <a:srgbClr val="22AC71"/>
            </a:solidFill>
            <a:prstDash val="solid"/>
          </a:ln>
        </p:spPr>
      </p:sp>
      <p:sp>
        <p:nvSpPr>
          <p:cNvPr id="30" name="Text 27"/>
          <p:cNvSpPr txBox="1"/>
          <p:nvPr/>
        </p:nvSpPr>
        <p:spPr>
          <a:xfrm>
            <a:off x="9043416" y="2724912"/>
            <a:ext cx="2240280" cy="347472"/>
          </a:xfrm>
          <a:prstGeom prst="rect">
            <a:avLst/>
          </a:prstGeom>
          <a:noFill/>
          <a:ln/>
        </p:spPr>
        <p:txBody>
          <a:bodyPr wrap="square" lIns="0" tIns="0" rIns="0" bIns="0" rtlCol="0" anchor="ctr"/>
          <a:lstStyle/>
          <a:p>
            <a:pPr indent="0" marL="0">
              <a:buNone/>
            </a:pPr>
            <a:r>
              <a:rPr lang="en-US" sz="1400" b="1" dirty="0">
                <a:solidFill>
                  <a:srgbClr val="22AC71"/>
                </a:solidFill>
                <a:latin typeface="Georgia" pitchFamily="34" charset="0"/>
                <a:ea typeface="Georgia" pitchFamily="34" charset="-122"/>
                <a:cs typeface="Georgia" pitchFamily="34" charset="-120"/>
              </a:rPr>
              <a:t>AI service</a:t>
            </a:r>
            <a:endParaRPr lang="en-US" sz="1400" dirty="0"/>
          </a:p>
        </p:txBody>
      </p:sp>
      <p:sp>
        <p:nvSpPr>
          <p:cNvPr id="31" name="Text 28"/>
          <p:cNvSpPr txBox="1"/>
          <p:nvPr/>
        </p:nvSpPr>
        <p:spPr>
          <a:xfrm>
            <a:off x="9043416" y="3090672"/>
            <a:ext cx="2240280" cy="548640"/>
          </a:xfrm>
          <a:prstGeom prst="rect">
            <a:avLst/>
          </a:prstGeom>
          <a:noFill/>
          <a:ln/>
        </p:spPr>
        <p:txBody>
          <a:bodyPr wrap="square" lIns="0" tIns="0" rIns="0" bIns="0" rtlCol="0" anchor="t"/>
          <a:lstStyle/>
          <a:p>
            <a:pPr indent="0" marL="0">
              <a:buNone/>
            </a:pPr>
            <a:r>
              <a:rPr lang="en-US" sz="1100" dirty="0">
                <a:solidFill>
                  <a:srgbClr val="233A52"/>
                </a:solidFill>
                <a:latin typeface="Aptos" pitchFamily="34" charset="0"/>
                <a:ea typeface="Aptos" pitchFamily="34" charset="-122"/>
                <a:cs typeface="Aptos" pitchFamily="34" charset="-120"/>
              </a:rPr>
              <a:t>Advisor • policy search (RAG)</a:t>
            </a:r>
            <a:endParaRPr lang="en-US" sz="1100" dirty="0"/>
          </a:p>
          <a:p>
            <a:pPr indent="0" marL="0">
              <a:buNone/>
            </a:pPr>
            <a:r>
              <a:rPr lang="en-US" sz="1100" dirty="0">
                <a:solidFill>
                  <a:srgbClr val="233A52"/>
                </a:solidFill>
                <a:latin typeface="Aptos" pitchFamily="34" charset="0"/>
                <a:ea typeface="Aptos" pitchFamily="34" charset="-122"/>
                <a:cs typeface="Aptos" pitchFamily="34" charset="-120"/>
              </a:rPr>
              <a:t>no database, by design</a:t>
            </a:r>
            <a:endParaRPr lang="en-US" sz="1100" dirty="0"/>
          </a:p>
        </p:txBody>
      </p:sp>
      <p:sp>
        <p:nvSpPr>
          <p:cNvPr id="32" name="Card Attendance"/>
          <p:cNvSpPr/>
          <p:nvPr/>
        </p:nvSpPr>
        <p:spPr>
          <a:xfrm>
            <a:off x="749808" y="3822192"/>
            <a:ext cx="2560320" cy="1078992"/>
          </a:xfrm>
          <a:prstGeom prst="roundRect">
            <a:avLst>
              <a:gd name="adj" fmla="val 5085"/>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33" name="Card accent Attendance"/>
          <p:cNvSpPr/>
          <p:nvPr/>
        </p:nvSpPr>
        <p:spPr>
          <a:xfrm>
            <a:off x="749808" y="3858768"/>
            <a:ext cx="64008" cy="1005840"/>
          </a:xfrm>
          <a:prstGeom prst="rect">
            <a:avLst/>
          </a:prstGeom>
          <a:solidFill>
            <a:srgbClr val="0D99AE"/>
          </a:solidFill>
          <a:ln w="12700">
            <a:solidFill>
              <a:srgbClr val="0D99AE"/>
            </a:solidFill>
            <a:prstDash val="solid"/>
          </a:ln>
        </p:spPr>
      </p:sp>
      <p:sp>
        <p:nvSpPr>
          <p:cNvPr id="34" name="Text 31"/>
          <p:cNvSpPr txBox="1"/>
          <p:nvPr/>
        </p:nvSpPr>
        <p:spPr>
          <a:xfrm>
            <a:off x="950976" y="3913632"/>
            <a:ext cx="2240280" cy="347472"/>
          </a:xfrm>
          <a:prstGeom prst="rect">
            <a:avLst/>
          </a:prstGeom>
          <a:noFill/>
          <a:ln/>
        </p:spPr>
        <p:txBody>
          <a:bodyPr wrap="square" lIns="0" tIns="0" rIns="0" bIns="0" rtlCol="0" anchor="ctr"/>
          <a:lstStyle/>
          <a:p>
            <a:pPr indent="0" marL="0">
              <a:buNone/>
            </a:pPr>
            <a:r>
              <a:rPr lang="en-US" sz="1400" b="1" dirty="0">
                <a:solidFill>
                  <a:srgbClr val="0D99AE"/>
                </a:solidFill>
                <a:latin typeface="Georgia" pitchFamily="34" charset="0"/>
                <a:ea typeface="Georgia" pitchFamily="34" charset="-122"/>
                <a:cs typeface="Georgia" pitchFamily="34" charset="-120"/>
              </a:rPr>
              <a:t>Attendance</a:t>
            </a:r>
            <a:endParaRPr lang="en-US" sz="1400" dirty="0"/>
          </a:p>
        </p:txBody>
      </p:sp>
      <p:sp>
        <p:nvSpPr>
          <p:cNvPr id="35" name="Text 32"/>
          <p:cNvSpPr txBox="1"/>
          <p:nvPr/>
        </p:nvSpPr>
        <p:spPr>
          <a:xfrm>
            <a:off x="950976" y="4279392"/>
            <a:ext cx="2240280" cy="548640"/>
          </a:xfrm>
          <a:prstGeom prst="rect">
            <a:avLst/>
          </a:prstGeom>
          <a:noFill/>
          <a:ln/>
        </p:spPr>
        <p:txBody>
          <a:bodyPr wrap="square" lIns="0" tIns="0" rIns="0" bIns="0" rtlCol="0" anchor="t"/>
          <a:lstStyle/>
          <a:p>
            <a:pPr indent="0" marL="0">
              <a:buNone/>
            </a:pPr>
            <a:r>
              <a:rPr lang="en-US" sz="1100" dirty="0">
                <a:solidFill>
                  <a:srgbClr val="233A52"/>
                </a:solidFill>
                <a:latin typeface="Aptos" pitchFamily="34" charset="0"/>
                <a:ea typeface="Aptos" pitchFamily="34" charset="-122"/>
                <a:cs typeface="Aptos" pitchFamily="34" charset="-120"/>
              </a:rPr>
              <a:t>Check-in • live board</a:t>
            </a:r>
            <a:endParaRPr lang="en-US" sz="1100" dirty="0"/>
          </a:p>
          <a:p>
            <a:pPr indent="0" marL="0">
              <a:buNone/>
            </a:pPr>
            <a:r>
              <a:rPr lang="en-US" sz="1100" dirty="0">
                <a:solidFill>
                  <a:srgbClr val="233A52"/>
                </a:solidFill>
                <a:latin typeface="Aptos" pitchFamily="34" charset="0"/>
                <a:ea typeface="Aptos" pitchFamily="34" charset="-122"/>
                <a:cs typeface="Aptos" pitchFamily="34" charset="-120"/>
              </a:rPr>
              <a:t>own PostgreSQL</a:t>
            </a:r>
            <a:endParaRPr lang="en-US" sz="1100" dirty="0"/>
          </a:p>
        </p:txBody>
      </p:sp>
      <p:sp>
        <p:nvSpPr>
          <p:cNvPr id="36" name="Card Assessment"/>
          <p:cNvSpPr/>
          <p:nvPr/>
        </p:nvSpPr>
        <p:spPr>
          <a:xfrm>
            <a:off x="3447288" y="3822192"/>
            <a:ext cx="2560320" cy="1078992"/>
          </a:xfrm>
          <a:prstGeom prst="roundRect">
            <a:avLst>
              <a:gd name="adj" fmla="val 5085"/>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37" name="Card accent Assessment"/>
          <p:cNvSpPr/>
          <p:nvPr/>
        </p:nvSpPr>
        <p:spPr>
          <a:xfrm>
            <a:off x="3447288" y="3858768"/>
            <a:ext cx="64008" cy="1005840"/>
          </a:xfrm>
          <a:prstGeom prst="rect">
            <a:avLst/>
          </a:prstGeom>
          <a:solidFill>
            <a:srgbClr val="0D99AE"/>
          </a:solidFill>
          <a:ln w="12700">
            <a:solidFill>
              <a:srgbClr val="0D99AE"/>
            </a:solidFill>
            <a:prstDash val="solid"/>
          </a:ln>
        </p:spPr>
      </p:sp>
      <p:sp>
        <p:nvSpPr>
          <p:cNvPr id="38" name="Text 35"/>
          <p:cNvSpPr txBox="1"/>
          <p:nvPr/>
        </p:nvSpPr>
        <p:spPr>
          <a:xfrm>
            <a:off x="3648456" y="3913632"/>
            <a:ext cx="2240280" cy="347472"/>
          </a:xfrm>
          <a:prstGeom prst="rect">
            <a:avLst/>
          </a:prstGeom>
          <a:noFill/>
          <a:ln/>
        </p:spPr>
        <p:txBody>
          <a:bodyPr wrap="square" lIns="0" tIns="0" rIns="0" bIns="0" rtlCol="0" anchor="ctr"/>
          <a:lstStyle/>
          <a:p>
            <a:pPr indent="0" marL="0">
              <a:buNone/>
            </a:pPr>
            <a:r>
              <a:rPr lang="en-US" sz="1400" b="1" dirty="0">
                <a:solidFill>
                  <a:srgbClr val="0D99AE"/>
                </a:solidFill>
                <a:latin typeface="Georgia" pitchFamily="34" charset="0"/>
                <a:ea typeface="Georgia" pitchFamily="34" charset="-122"/>
                <a:cs typeface="Georgia" pitchFamily="34" charset="-120"/>
              </a:rPr>
              <a:t>Assessment</a:t>
            </a:r>
            <a:endParaRPr lang="en-US" sz="1400" dirty="0"/>
          </a:p>
        </p:txBody>
      </p:sp>
      <p:sp>
        <p:nvSpPr>
          <p:cNvPr id="39" name="Text 36"/>
          <p:cNvSpPr txBox="1"/>
          <p:nvPr/>
        </p:nvSpPr>
        <p:spPr>
          <a:xfrm>
            <a:off x="3648456" y="4279392"/>
            <a:ext cx="2240280" cy="548640"/>
          </a:xfrm>
          <a:prstGeom prst="rect">
            <a:avLst/>
          </a:prstGeom>
          <a:noFill/>
          <a:ln/>
        </p:spPr>
        <p:txBody>
          <a:bodyPr wrap="square" lIns="0" tIns="0" rIns="0" bIns="0" rtlCol="0" anchor="t"/>
          <a:lstStyle/>
          <a:p>
            <a:pPr indent="0" marL="0">
              <a:buNone/>
            </a:pPr>
            <a:r>
              <a:rPr lang="en-US" sz="1100" dirty="0">
                <a:solidFill>
                  <a:srgbClr val="233A52"/>
                </a:solidFill>
                <a:latin typeface="Aptos" pitchFamily="34" charset="0"/>
                <a:ea typeface="Aptos" pitchFamily="34" charset="-122"/>
                <a:cs typeface="Aptos" pitchFamily="34" charset="-120"/>
              </a:rPr>
              <a:t>Quizzes • grades</a:t>
            </a:r>
            <a:endParaRPr lang="en-US" sz="1100" dirty="0"/>
          </a:p>
          <a:p>
            <a:pPr indent="0" marL="0">
              <a:buNone/>
            </a:pPr>
            <a:r>
              <a:rPr lang="en-US" sz="1100" dirty="0">
                <a:solidFill>
                  <a:srgbClr val="233A52"/>
                </a:solidFill>
                <a:latin typeface="Aptos" pitchFamily="34" charset="0"/>
                <a:ea typeface="Aptos" pitchFamily="34" charset="-122"/>
                <a:cs typeface="Aptos" pitchFamily="34" charset="-120"/>
              </a:rPr>
              <a:t>own PostgreSQL</a:t>
            </a:r>
            <a:endParaRPr lang="en-US" sz="1100" dirty="0"/>
          </a:p>
        </p:txBody>
      </p:sp>
      <p:sp>
        <p:nvSpPr>
          <p:cNvPr id="40" name="Card Learning"/>
          <p:cNvSpPr/>
          <p:nvPr/>
        </p:nvSpPr>
        <p:spPr>
          <a:xfrm>
            <a:off x="6144768" y="3822192"/>
            <a:ext cx="2560320" cy="1078992"/>
          </a:xfrm>
          <a:prstGeom prst="roundRect">
            <a:avLst>
              <a:gd name="adj" fmla="val 5085"/>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41" name="Card accent Learning"/>
          <p:cNvSpPr/>
          <p:nvPr/>
        </p:nvSpPr>
        <p:spPr>
          <a:xfrm>
            <a:off x="6144768" y="3858768"/>
            <a:ext cx="64008" cy="1005840"/>
          </a:xfrm>
          <a:prstGeom prst="rect">
            <a:avLst/>
          </a:prstGeom>
          <a:solidFill>
            <a:srgbClr val="0D99AE"/>
          </a:solidFill>
          <a:ln w="12700">
            <a:solidFill>
              <a:srgbClr val="0D99AE"/>
            </a:solidFill>
            <a:prstDash val="solid"/>
          </a:ln>
        </p:spPr>
      </p:sp>
      <p:sp>
        <p:nvSpPr>
          <p:cNvPr id="42" name="Text 39"/>
          <p:cNvSpPr txBox="1"/>
          <p:nvPr/>
        </p:nvSpPr>
        <p:spPr>
          <a:xfrm>
            <a:off x="6345936" y="3913632"/>
            <a:ext cx="2240280" cy="347472"/>
          </a:xfrm>
          <a:prstGeom prst="rect">
            <a:avLst/>
          </a:prstGeom>
          <a:noFill/>
          <a:ln/>
        </p:spPr>
        <p:txBody>
          <a:bodyPr wrap="square" lIns="0" tIns="0" rIns="0" bIns="0" rtlCol="0" anchor="ctr"/>
          <a:lstStyle/>
          <a:p>
            <a:pPr indent="0" marL="0">
              <a:buNone/>
            </a:pPr>
            <a:r>
              <a:rPr lang="en-US" sz="1400" b="1" dirty="0">
                <a:solidFill>
                  <a:srgbClr val="0D99AE"/>
                </a:solidFill>
                <a:latin typeface="Georgia" pitchFamily="34" charset="0"/>
                <a:ea typeface="Georgia" pitchFamily="34" charset="-122"/>
                <a:cs typeface="Georgia" pitchFamily="34" charset="-120"/>
              </a:rPr>
              <a:t>Learning</a:t>
            </a:r>
            <a:endParaRPr lang="en-US" sz="1400" dirty="0"/>
          </a:p>
        </p:txBody>
      </p:sp>
      <p:sp>
        <p:nvSpPr>
          <p:cNvPr id="43" name="Text 40"/>
          <p:cNvSpPr txBox="1"/>
          <p:nvPr/>
        </p:nvSpPr>
        <p:spPr>
          <a:xfrm>
            <a:off x="6345936" y="4279392"/>
            <a:ext cx="2240280" cy="548640"/>
          </a:xfrm>
          <a:prstGeom prst="rect">
            <a:avLst/>
          </a:prstGeom>
          <a:noFill/>
          <a:ln/>
        </p:spPr>
        <p:txBody>
          <a:bodyPr wrap="square" lIns="0" tIns="0" rIns="0" bIns="0" rtlCol="0" anchor="t"/>
          <a:lstStyle/>
          <a:p>
            <a:pPr indent="0" marL="0">
              <a:buNone/>
            </a:pPr>
            <a:r>
              <a:rPr lang="en-US" sz="1100" dirty="0">
                <a:solidFill>
                  <a:srgbClr val="233A52"/>
                </a:solidFill>
                <a:latin typeface="Aptos" pitchFamily="34" charset="0"/>
                <a:ea typeface="Aptos" pitchFamily="34" charset="-122"/>
                <a:cs typeface="Aptos" pitchFamily="34" charset="-120"/>
              </a:rPr>
              <a:t>Lessons • progress</a:t>
            </a:r>
            <a:endParaRPr lang="en-US" sz="1100" dirty="0"/>
          </a:p>
          <a:p>
            <a:pPr indent="0" marL="0">
              <a:buNone/>
            </a:pPr>
            <a:r>
              <a:rPr lang="en-US" sz="1100" dirty="0">
                <a:solidFill>
                  <a:srgbClr val="233A52"/>
                </a:solidFill>
                <a:latin typeface="Aptos" pitchFamily="34" charset="0"/>
                <a:ea typeface="Aptos" pitchFamily="34" charset="-122"/>
                <a:cs typeface="Aptos" pitchFamily="34" charset="-120"/>
              </a:rPr>
              <a:t>own PostgreSQL</a:t>
            </a:r>
            <a:endParaRPr lang="en-US" sz="1100" dirty="0"/>
          </a:p>
        </p:txBody>
      </p:sp>
      <p:sp>
        <p:nvSpPr>
          <p:cNvPr id="44" name="Card Notification"/>
          <p:cNvSpPr/>
          <p:nvPr/>
        </p:nvSpPr>
        <p:spPr>
          <a:xfrm>
            <a:off x="8842248" y="3822192"/>
            <a:ext cx="2560320" cy="1078992"/>
          </a:xfrm>
          <a:prstGeom prst="roundRect">
            <a:avLst>
              <a:gd name="adj" fmla="val 5085"/>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45" name="Card accent Notification"/>
          <p:cNvSpPr/>
          <p:nvPr/>
        </p:nvSpPr>
        <p:spPr>
          <a:xfrm>
            <a:off x="8842248" y="3858768"/>
            <a:ext cx="64008" cy="1005840"/>
          </a:xfrm>
          <a:prstGeom prst="rect">
            <a:avLst/>
          </a:prstGeom>
          <a:solidFill>
            <a:srgbClr val="0D99AE"/>
          </a:solidFill>
          <a:ln w="12700">
            <a:solidFill>
              <a:srgbClr val="0D99AE"/>
            </a:solidFill>
            <a:prstDash val="solid"/>
          </a:ln>
        </p:spPr>
      </p:sp>
      <p:sp>
        <p:nvSpPr>
          <p:cNvPr id="46" name="Text 43"/>
          <p:cNvSpPr txBox="1"/>
          <p:nvPr/>
        </p:nvSpPr>
        <p:spPr>
          <a:xfrm>
            <a:off x="9043416" y="3913632"/>
            <a:ext cx="2240280" cy="347472"/>
          </a:xfrm>
          <a:prstGeom prst="rect">
            <a:avLst/>
          </a:prstGeom>
          <a:noFill/>
          <a:ln/>
        </p:spPr>
        <p:txBody>
          <a:bodyPr wrap="square" lIns="0" tIns="0" rIns="0" bIns="0" rtlCol="0" anchor="ctr"/>
          <a:lstStyle/>
          <a:p>
            <a:pPr indent="0" marL="0">
              <a:buNone/>
            </a:pPr>
            <a:r>
              <a:rPr lang="en-US" sz="1400" b="1" dirty="0">
                <a:solidFill>
                  <a:srgbClr val="0D99AE"/>
                </a:solidFill>
                <a:latin typeface="Georgia" pitchFamily="34" charset="0"/>
                <a:ea typeface="Georgia" pitchFamily="34" charset="-122"/>
                <a:cs typeface="Georgia" pitchFamily="34" charset="-120"/>
              </a:rPr>
              <a:t>Notification</a:t>
            </a:r>
            <a:endParaRPr lang="en-US" sz="1400" dirty="0"/>
          </a:p>
        </p:txBody>
      </p:sp>
      <p:sp>
        <p:nvSpPr>
          <p:cNvPr id="47" name="Text 44"/>
          <p:cNvSpPr txBox="1"/>
          <p:nvPr/>
        </p:nvSpPr>
        <p:spPr>
          <a:xfrm>
            <a:off x="9043416" y="4279392"/>
            <a:ext cx="2240280" cy="548640"/>
          </a:xfrm>
          <a:prstGeom prst="rect">
            <a:avLst/>
          </a:prstGeom>
          <a:noFill/>
          <a:ln/>
        </p:spPr>
        <p:txBody>
          <a:bodyPr wrap="square" lIns="0" tIns="0" rIns="0" bIns="0" rtlCol="0" anchor="t"/>
          <a:lstStyle/>
          <a:p>
            <a:pPr indent="0" marL="0">
              <a:buNone/>
            </a:pPr>
            <a:r>
              <a:rPr lang="en-US" sz="1100" dirty="0">
                <a:solidFill>
                  <a:srgbClr val="233A52"/>
                </a:solidFill>
                <a:latin typeface="Aptos" pitchFamily="34" charset="0"/>
                <a:ea typeface="Aptos" pitchFamily="34" charset="-122"/>
                <a:cs typeface="Aptos" pitchFamily="34" charset="-120"/>
              </a:rPr>
              <a:t>Bell notifications</a:t>
            </a:r>
            <a:endParaRPr lang="en-US" sz="1100" dirty="0"/>
          </a:p>
          <a:p>
            <a:pPr indent="0" marL="0">
              <a:buNone/>
            </a:pPr>
            <a:r>
              <a:rPr lang="en-US" sz="1100" dirty="0">
                <a:solidFill>
                  <a:srgbClr val="233A52"/>
                </a:solidFill>
                <a:latin typeface="Aptos" pitchFamily="34" charset="0"/>
                <a:ea typeface="Aptos" pitchFamily="34" charset="-122"/>
                <a:cs typeface="Aptos" pitchFamily="34" charset="-120"/>
              </a:rPr>
              <a:t>own PostgreSQL</a:t>
            </a:r>
            <a:endParaRPr lang="en-US" sz="1100" dirty="0"/>
          </a:p>
        </p:txBody>
      </p:sp>
      <p:sp>
        <p:nvSpPr>
          <p:cNvPr id="48" name="Legend dot"/>
          <p:cNvSpPr/>
          <p:nvPr/>
        </p:nvSpPr>
        <p:spPr>
          <a:xfrm>
            <a:off x="777240" y="5138928"/>
            <a:ext cx="146304" cy="146304"/>
          </a:xfrm>
          <a:prstGeom prst="ellipse">
            <a:avLst/>
          </a:prstGeom>
          <a:solidFill>
            <a:srgbClr val="2167D2"/>
          </a:solidFill>
          <a:ln w="12700">
            <a:solidFill>
              <a:srgbClr val="2167D2"/>
            </a:solidFill>
            <a:prstDash val="solid"/>
          </a:ln>
        </p:spPr>
      </p:sp>
      <p:sp>
        <p:nvSpPr>
          <p:cNvPr id="49" name="Text 46"/>
          <p:cNvSpPr txBox="1"/>
          <p:nvPr/>
        </p:nvSpPr>
        <p:spPr>
          <a:xfrm>
            <a:off x="1005840" y="5074920"/>
            <a:ext cx="2011680" cy="274320"/>
          </a:xfrm>
          <a:prstGeom prst="rect">
            <a:avLst/>
          </a:prstGeom>
          <a:noFill/>
          <a:ln/>
        </p:spPr>
        <p:txBody>
          <a:bodyPr wrap="square" lIns="0" tIns="0" rIns="0" bIns="0" rtlCol="0" anchor="ctr"/>
          <a:lstStyle/>
          <a:p>
            <a:pPr indent="0" marL="0">
              <a:buNone/>
            </a:pPr>
            <a:r>
              <a:rPr lang="en-US" sz="1200" dirty="0">
                <a:solidFill>
                  <a:srgbClr val="233A52"/>
                </a:solidFill>
                <a:latin typeface="Aptos" pitchFamily="34" charset="0"/>
                <a:ea typeface="Aptos" pitchFamily="34" charset="-122"/>
                <a:cs typeface="Aptos" pitchFamily="34" charset="-120"/>
              </a:rPr>
              <a:t>Shared PostgreSQL</a:t>
            </a:r>
            <a:endParaRPr lang="en-US" sz="1200" dirty="0"/>
          </a:p>
        </p:txBody>
      </p:sp>
      <p:sp>
        <p:nvSpPr>
          <p:cNvPr id="50" name="Legend dot"/>
          <p:cNvSpPr/>
          <p:nvPr/>
        </p:nvSpPr>
        <p:spPr>
          <a:xfrm>
            <a:off x="3154680" y="5138928"/>
            <a:ext cx="146304" cy="146304"/>
          </a:xfrm>
          <a:prstGeom prst="ellipse">
            <a:avLst/>
          </a:prstGeom>
          <a:solidFill>
            <a:srgbClr val="0D99AE"/>
          </a:solidFill>
          <a:ln w="12700">
            <a:solidFill>
              <a:srgbClr val="0D99AE"/>
            </a:solidFill>
            <a:prstDash val="solid"/>
          </a:ln>
        </p:spPr>
      </p:sp>
      <p:sp>
        <p:nvSpPr>
          <p:cNvPr id="51" name="Text 48"/>
          <p:cNvSpPr txBox="1"/>
          <p:nvPr/>
        </p:nvSpPr>
        <p:spPr>
          <a:xfrm>
            <a:off x="3383280" y="5074920"/>
            <a:ext cx="2011680" cy="274320"/>
          </a:xfrm>
          <a:prstGeom prst="rect">
            <a:avLst/>
          </a:prstGeom>
          <a:noFill/>
          <a:ln/>
        </p:spPr>
        <p:txBody>
          <a:bodyPr wrap="square" lIns="0" tIns="0" rIns="0" bIns="0" rtlCol="0" anchor="ctr"/>
          <a:lstStyle/>
          <a:p>
            <a:pPr indent="0" marL="0">
              <a:buNone/>
            </a:pPr>
            <a:r>
              <a:rPr lang="en-US" sz="1200" dirty="0">
                <a:solidFill>
                  <a:srgbClr val="233A52"/>
                </a:solidFill>
                <a:latin typeface="Aptos" pitchFamily="34" charset="0"/>
                <a:ea typeface="Aptos" pitchFamily="34" charset="-122"/>
                <a:cs typeface="Aptos" pitchFamily="34" charset="-120"/>
              </a:rPr>
              <a:t>Own PostgreSQL</a:t>
            </a:r>
            <a:endParaRPr lang="en-US" sz="1200" dirty="0"/>
          </a:p>
        </p:txBody>
      </p:sp>
      <p:sp>
        <p:nvSpPr>
          <p:cNvPr id="52" name="Legend dot"/>
          <p:cNvSpPr/>
          <p:nvPr/>
        </p:nvSpPr>
        <p:spPr>
          <a:xfrm>
            <a:off x="5532120" y="5138928"/>
            <a:ext cx="146304" cy="146304"/>
          </a:xfrm>
          <a:prstGeom prst="ellipse">
            <a:avLst/>
          </a:prstGeom>
          <a:solidFill>
            <a:srgbClr val="22AC71"/>
          </a:solidFill>
          <a:ln w="12700">
            <a:solidFill>
              <a:srgbClr val="22AC71"/>
            </a:solidFill>
            <a:prstDash val="solid"/>
          </a:ln>
        </p:spPr>
      </p:sp>
      <p:sp>
        <p:nvSpPr>
          <p:cNvPr id="53" name="Text 50"/>
          <p:cNvSpPr txBox="1"/>
          <p:nvPr/>
        </p:nvSpPr>
        <p:spPr>
          <a:xfrm>
            <a:off x="5760720" y="5074920"/>
            <a:ext cx="2011680" cy="274320"/>
          </a:xfrm>
          <a:prstGeom prst="rect">
            <a:avLst/>
          </a:prstGeom>
          <a:noFill/>
          <a:ln/>
        </p:spPr>
        <p:txBody>
          <a:bodyPr wrap="square" lIns="0" tIns="0" rIns="0" bIns="0" rtlCol="0" anchor="ctr"/>
          <a:lstStyle/>
          <a:p>
            <a:pPr indent="0" marL="0">
              <a:buNone/>
            </a:pPr>
            <a:r>
              <a:rPr lang="en-US" sz="1200" dirty="0">
                <a:solidFill>
                  <a:srgbClr val="233A52"/>
                </a:solidFill>
                <a:latin typeface="Aptos" pitchFamily="34" charset="0"/>
                <a:ea typeface="Aptos" pitchFamily="34" charset="-122"/>
                <a:cs typeface="Aptos" pitchFamily="34" charset="-120"/>
              </a:rPr>
              <a:t>No database</a:t>
            </a:r>
            <a:endParaRPr lang="en-US" sz="1200" dirty="0"/>
          </a:p>
        </p:txBody>
      </p:sp>
      <p:sp>
        <p:nvSpPr>
          <p:cNvPr id="54" name="Card Kafka"/>
          <p:cNvSpPr/>
          <p:nvPr/>
        </p:nvSpPr>
        <p:spPr>
          <a:xfrm>
            <a:off x="548640" y="5440680"/>
            <a:ext cx="3566160" cy="822960"/>
          </a:xfrm>
          <a:prstGeom prst="roundRect">
            <a:avLst>
              <a:gd name="adj" fmla="val 6667"/>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55" name="Card accent Kafka"/>
          <p:cNvSpPr/>
          <p:nvPr/>
        </p:nvSpPr>
        <p:spPr>
          <a:xfrm>
            <a:off x="548640" y="5477256"/>
            <a:ext cx="64008" cy="749808"/>
          </a:xfrm>
          <a:prstGeom prst="rect">
            <a:avLst/>
          </a:prstGeom>
          <a:solidFill>
            <a:srgbClr val="22AC71"/>
          </a:solidFill>
          <a:ln w="12700">
            <a:solidFill>
              <a:srgbClr val="22AC71"/>
            </a:solidFill>
            <a:prstDash val="solid"/>
          </a:ln>
        </p:spPr>
      </p:sp>
      <p:sp>
        <p:nvSpPr>
          <p:cNvPr id="56" name="Text 53"/>
          <p:cNvSpPr txBox="1"/>
          <p:nvPr/>
        </p:nvSpPr>
        <p:spPr>
          <a:xfrm>
            <a:off x="749808" y="5532120"/>
            <a:ext cx="3246120" cy="347472"/>
          </a:xfrm>
          <a:prstGeom prst="rect">
            <a:avLst/>
          </a:prstGeom>
          <a:noFill/>
          <a:ln/>
        </p:spPr>
        <p:txBody>
          <a:bodyPr wrap="square" lIns="0" tIns="0" rIns="0" bIns="0" rtlCol="0" anchor="ctr"/>
          <a:lstStyle/>
          <a:p>
            <a:pPr indent="0" marL="0">
              <a:buNone/>
            </a:pPr>
            <a:r>
              <a:rPr lang="en-US" sz="1400" b="1" dirty="0">
                <a:solidFill>
                  <a:srgbClr val="22AC71"/>
                </a:solidFill>
                <a:latin typeface="Georgia" pitchFamily="34" charset="0"/>
                <a:ea typeface="Georgia" pitchFamily="34" charset="-122"/>
                <a:cs typeface="Georgia" pitchFamily="34" charset="-120"/>
              </a:rPr>
              <a:t>Kafka</a:t>
            </a:r>
            <a:endParaRPr lang="en-US" sz="1400" dirty="0"/>
          </a:p>
        </p:txBody>
      </p:sp>
      <p:sp>
        <p:nvSpPr>
          <p:cNvPr id="57" name="Text 54"/>
          <p:cNvSpPr txBox="1"/>
          <p:nvPr/>
        </p:nvSpPr>
        <p:spPr>
          <a:xfrm>
            <a:off x="749808" y="5897880"/>
            <a:ext cx="3246120" cy="292608"/>
          </a:xfrm>
          <a:prstGeom prst="rect">
            <a:avLst/>
          </a:prstGeom>
          <a:noFill/>
          <a:ln/>
        </p:spPr>
        <p:txBody>
          <a:bodyPr wrap="square" lIns="0" tIns="0" rIns="0" bIns="0" rtlCol="0" anchor="t"/>
          <a:lstStyle/>
          <a:p>
            <a:pPr indent="0" marL="0">
              <a:buNone/>
            </a:pPr>
            <a:r>
              <a:rPr lang="en-US" sz="1150" dirty="0">
                <a:solidFill>
                  <a:srgbClr val="233A52"/>
                </a:solidFill>
                <a:latin typeface="Aptos" pitchFamily="34" charset="0"/>
                <a:ea typeface="Aptos" pitchFamily="34" charset="-122"/>
                <a:cs typeface="Aptos" pitchFamily="34" charset="-120"/>
              </a:rPr>
              <a:t>Events between services</a:t>
            </a:r>
            <a:endParaRPr lang="en-US" sz="1150" dirty="0"/>
          </a:p>
        </p:txBody>
      </p:sp>
      <p:sp>
        <p:nvSpPr>
          <p:cNvPr id="58" name="Card Redis"/>
          <p:cNvSpPr/>
          <p:nvPr/>
        </p:nvSpPr>
        <p:spPr>
          <a:xfrm>
            <a:off x="4297680" y="5440680"/>
            <a:ext cx="3566160" cy="822960"/>
          </a:xfrm>
          <a:prstGeom prst="roundRect">
            <a:avLst>
              <a:gd name="adj" fmla="val 6667"/>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59" name="Card accent Redis"/>
          <p:cNvSpPr/>
          <p:nvPr/>
        </p:nvSpPr>
        <p:spPr>
          <a:xfrm>
            <a:off x="4297680" y="5477256"/>
            <a:ext cx="64008" cy="749808"/>
          </a:xfrm>
          <a:prstGeom prst="rect">
            <a:avLst/>
          </a:prstGeom>
          <a:solidFill>
            <a:srgbClr val="0D99AE"/>
          </a:solidFill>
          <a:ln w="12700">
            <a:solidFill>
              <a:srgbClr val="0D99AE"/>
            </a:solidFill>
            <a:prstDash val="solid"/>
          </a:ln>
        </p:spPr>
      </p:sp>
      <p:sp>
        <p:nvSpPr>
          <p:cNvPr id="60" name="Text 57"/>
          <p:cNvSpPr txBox="1"/>
          <p:nvPr/>
        </p:nvSpPr>
        <p:spPr>
          <a:xfrm>
            <a:off x="4498848" y="5532120"/>
            <a:ext cx="3246120" cy="347472"/>
          </a:xfrm>
          <a:prstGeom prst="rect">
            <a:avLst/>
          </a:prstGeom>
          <a:noFill/>
          <a:ln/>
        </p:spPr>
        <p:txBody>
          <a:bodyPr wrap="square" lIns="0" tIns="0" rIns="0" bIns="0" rtlCol="0" anchor="ctr"/>
          <a:lstStyle/>
          <a:p>
            <a:pPr indent="0" marL="0">
              <a:buNone/>
            </a:pPr>
            <a:r>
              <a:rPr lang="en-US" sz="1400" b="1" dirty="0">
                <a:solidFill>
                  <a:srgbClr val="0D99AE"/>
                </a:solidFill>
                <a:latin typeface="Georgia" pitchFamily="34" charset="0"/>
                <a:ea typeface="Georgia" pitchFamily="34" charset="-122"/>
                <a:cs typeface="Georgia" pitchFamily="34" charset="-120"/>
              </a:rPr>
              <a:t>Redis</a:t>
            </a:r>
            <a:endParaRPr lang="en-US" sz="1400" dirty="0"/>
          </a:p>
        </p:txBody>
      </p:sp>
      <p:sp>
        <p:nvSpPr>
          <p:cNvPr id="61" name="Text 58"/>
          <p:cNvSpPr txBox="1"/>
          <p:nvPr/>
        </p:nvSpPr>
        <p:spPr>
          <a:xfrm>
            <a:off x="4498848" y="5897880"/>
            <a:ext cx="3246120" cy="292608"/>
          </a:xfrm>
          <a:prstGeom prst="rect">
            <a:avLst/>
          </a:prstGeom>
          <a:noFill/>
          <a:ln/>
        </p:spPr>
        <p:txBody>
          <a:bodyPr wrap="square" lIns="0" tIns="0" rIns="0" bIns="0" rtlCol="0" anchor="t"/>
          <a:lstStyle/>
          <a:p>
            <a:pPr indent="0" marL="0">
              <a:buNone/>
            </a:pPr>
            <a:r>
              <a:rPr lang="en-US" sz="1150" dirty="0">
                <a:solidFill>
                  <a:srgbClr val="233A52"/>
                </a:solidFill>
                <a:latin typeface="Aptos" pitchFamily="34" charset="0"/>
                <a:ea typeface="Aptos" pitchFamily="34" charset="-122"/>
                <a:cs typeface="Aptos" pitchFamily="34" charset="-120"/>
              </a:rPr>
              <a:t>Discovery • rate limits • revocations</a:t>
            </a:r>
            <a:endParaRPr lang="en-US" sz="1150" dirty="0"/>
          </a:p>
        </p:txBody>
      </p:sp>
      <p:sp>
        <p:nvSpPr>
          <p:cNvPr id="62" name="Card Observability"/>
          <p:cNvSpPr/>
          <p:nvPr/>
        </p:nvSpPr>
        <p:spPr>
          <a:xfrm>
            <a:off x="8046720" y="5440680"/>
            <a:ext cx="3566160" cy="822960"/>
          </a:xfrm>
          <a:prstGeom prst="roundRect">
            <a:avLst>
              <a:gd name="adj" fmla="val 6667"/>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63" name="Card accent Observability"/>
          <p:cNvSpPr/>
          <p:nvPr/>
        </p:nvSpPr>
        <p:spPr>
          <a:xfrm>
            <a:off x="8046720" y="5477256"/>
            <a:ext cx="64008" cy="749808"/>
          </a:xfrm>
          <a:prstGeom prst="rect">
            <a:avLst/>
          </a:prstGeom>
          <a:solidFill>
            <a:srgbClr val="2167D2"/>
          </a:solidFill>
          <a:ln w="12700">
            <a:solidFill>
              <a:srgbClr val="2167D2"/>
            </a:solidFill>
            <a:prstDash val="solid"/>
          </a:ln>
        </p:spPr>
      </p:sp>
      <p:sp>
        <p:nvSpPr>
          <p:cNvPr id="64" name="Text 61"/>
          <p:cNvSpPr txBox="1"/>
          <p:nvPr/>
        </p:nvSpPr>
        <p:spPr>
          <a:xfrm>
            <a:off x="8247888" y="5532120"/>
            <a:ext cx="3246120" cy="347472"/>
          </a:xfrm>
          <a:prstGeom prst="rect">
            <a:avLst/>
          </a:prstGeom>
          <a:noFill/>
          <a:ln/>
        </p:spPr>
        <p:txBody>
          <a:bodyPr wrap="square" lIns="0" tIns="0" rIns="0" bIns="0" rtlCol="0" anchor="ctr"/>
          <a:lstStyle/>
          <a:p>
            <a:pPr indent="0" marL="0">
              <a:buNone/>
            </a:pPr>
            <a:r>
              <a:rPr lang="en-US" sz="1400" b="1" dirty="0">
                <a:solidFill>
                  <a:srgbClr val="2167D2"/>
                </a:solidFill>
                <a:latin typeface="Georgia" pitchFamily="34" charset="0"/>
                <a:ea typeface="Georgia" pitchFamily="34" charset="-122"/>
                <a:cs typeface="Georgia" pitchFamily="34" charset="-120"/>
              </a:rPr>
              <a:t>Observability</a:t>
            </a:r>
            <a:endParaRPr lang="en-US" sz="1400" dirty="0"/>
          </a:p>
        </p:txBody>
      </p:sp>
      <p:sp>
        <p:nvSpPr>
          <p:cNvPr id="65" name="Text 62"/>
          <p:cNvSpPr txBox="1"/>
          <p:nvPr/>
        </p:nvSpPr>
        <p:spPr>
          <a:xfrm>
            <a:off x="8247888" y="5897880"/>
            <a:ext cx="3246120" cy="292608"/>
          </a:xfrm>
          <a:prstGeom prst="rect">
            <a:avLst/>
          </a:prstGeom>
          <a:noFill/>
          <a:ln/>
        </p:spPr>
        <p:txBody>
          <a:bodyPr wrap="square" lIns="0" tIns="0" rIns="0" bIns="0" rtlCol="0" anchor="t"/>
          <a:lstStyle/>
          <a:p>
            <a:pPr indent="0" marL="0">
              <a:buNone/>
            </a:pPr>
            <a:r>
              <a:rPr lang="en-US" sz="1150" dirty="0">
                <a:solidFill>
                  <a:srgbClr val="233A52"/>
                </a:solidFill>
                <a:latin typeface="Aptos" pitchFamily="34" charset="0"/>
                <a:ea typeface="Aptos" pitchFamily="34" charset="-122"/>
                <a:cs typeface="Aptos" pitchFamily="34" charset="-120"/>
              </a:rPr>
              <a:t>Prometheus • Grafana • Loki • Tempo</a:t>
            </a:r>
            <a:endParaRPr lang="en-US" sz="1150" dirty="0"/>
          </a:p>
        </p:txBody>
      </p:sp>
      <p:sp>
        <p:nvSpPr>
          <p:cNvPr id="66" name="Text 63"/>
          <p:cNvSpPr txBox="1"/>
          <p:nvPr/>
        </p:nvSpPr>
        <p:spPr>
          <a:xfrm>
            <a:off x="548640" y="6382512"/>
            <a:ext cx="11064240" cy="274320"/>
          </a:xfrm>
          <a:prstGeom prst="rect">
            <a:avLst/>
          </a:prstGeom>
          <a:noFill/>
          <a:ln/>
        </p:spPr>
        <p:txBody>
          <a:bodyPr wrap="square" lIns="0" tIns="0" rIns="0" bIns="0" rtlCol="0" anchor="ctr"/>
          <a:lstStyle/>
          <a:p>
            <a:pPr algn="ctr" indent="0" marL="0">
              <a:buNone/>
            </a:pPr>
            <a:r>
              <a:rPr lang="en-US" sz="1100" dirty="0">
                <a:solidFill>
                  <a:srgbClr val="536980"/>
                </a:solidFill>
                <a:latin typeface="Aptos" pitchFamily="34" charset="0"/>
                <a:ea typeface="Aptos" pitchFamily="34" charset="-122"/>
                <a:cs typeface="Aptos" pitchFamily="34" charset="-120"/>
              </a:rPr>
              <a:t>No service reads another service's tables: they keep their own copies, filled by events.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cademian logo">    </p:cNvPr>
          <p:cNvPicPr>
            <a:picLocks noChangeAspect="1"/>
          </p:cNvPicPr>
          <p:nvPr/>
        </p:nvPicPr>
        <p:blipFill>
          <a:blip r:embed="rId2"/>
          <a:stretch>
            <a:fillRect/>
          </a:stretch>
        </p:blipFill>
        <p:spPr>
          <a:xfrm>
            <a:off x="10634472" y="457200"/>
            <a:ext cx="1051560" cy="228600"/>
          </a:xfrm>
          <a:prstGeom prst="rect">
            <a:avLst/>
          </a:prstGeom>
        </p:spPr>
      </p:pic>
      <p:sp>
        <p:nvSpPr>
          <p:cNvPr id="3" name="Text 0"/>
          <p:cNvSpPr txBox="1"/>
          <p:nvPr/>
        </p:nvSpPr>
        <p:spPr>
          <a:xfrm>
            <a:off x="7680960" y="201168"/>
            <a:ext cx="4023360" cy="228600"/>
          </a:xfrm>
          <a:prstGeom prst="rect">
            <a:avLst/>
          </a:prstGeom>
          <a:noFill/>
          <a:ln/>
        </p:spPr>
        <p:txBody>
          <a:bodyPr wrap="square" lIns="0" tIns="0" rIns="0" bIns="0" rtlCol="0" anchor="ctr"/>
          <a:lstStyle/>
          <a:p>
            <a:pPr algn="r" indent="0" marL="0">
              <a:buNone/>
            </a:pPr>
            <a:r>
              <a:rPr lang="en-US" sz="900" b="1" dirty="0">
                <a:solidFill>
                  <a:srgbClr val="2167D2"/>
                </a:solidFill>
                <a:latin typeface="Consolas" pitchFamily="34" charset="0"/>
                <a:ea typeface="Consolas" pitchFamily="34" charset="-122"/>
                <a:cs typeface="Consolas" pitchFamily="34" charset="-120"/>
              </a:rPr>
              <a:t>THE PROJECT WORKFLOW</a:t>
            </a:r>
            <a:endParaRPr lang="en-US" sz="900" dirty="0"/>
          </a:p>
        </p:txBody>
      </p:sp>
      <p:sp>
        <p:nvSpPr>
          <p:cNvPr id="4" name="Text 1"/>
          <p:cNvSpPr txBox="1"/>
          <p:nvPr/>
        </p:nvSpPr>
        <p:spPr>
          <a:xfrm>
            <a:off x="548640" y="274320"/>
            <a:ext cx="9875520" cy="640080"/>
          </a:xfrm>
          <a:prstGeom prst="rect">
            <a:avLst/>
          </a:prstGeom>
          <a:noFill/>
          <a:ln/>
        </p:spPr>
        <p:txBody>
          <a:bodyPr wrap="square" lIns="0" tIns="0" rIns="0" bIns="0" rtlCol="0" anchor="ctr"/>
          <a:lstStyle/>
          <a:p>
            <a:pPr indent="0" marL="0">
              <a:buNone/>
            </a:pPr>
            <a:r>
              <a:rPr lang="en-US" sz="2800" b="1" dirty="0">
                <a:solidFill>
                  <a:srgbClr val="0F2F53"/>
                </a:solidFill>
                <a:latin typeface="Georgia" pitchFamily="34" charset="0"/>
                <a:ea typeface="Georgia" pitchFamily="34" charset="-122"/>
                <a:cs typeface="Georgia" pitchFamily="34" charset="-120"/>
              </a:rPr>
              <a:t>Setu: from sign-in to an explained risk</a:t>
            </a:r>
            <a:endParaRPr lang="en-US" sz="2800" dirty="0"/>
          </a:p>
        </p:txBody>
      </p:sp>
      <p:sp>
        <p:nvSpPr>
          <p:cNvPr id="5" name="Step 1"/>
          <p:cNvSpPr/>
          <p:nvPr/>
        </p:nvSpPr>
        <p:spPr>
          <a:xfrm>
            <a:off x="548640" y="1097280"/>
            <a:ext cx="1426464" cy="2560320"/>
          </a:xfrm>
          <a:prstGeom prst="roundRect">
            <a:avLst>
              <a:gd name="adj" fmla="val 5128"/>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6" name="Step accent 1"/>
          <p:cNvSpPr/>
          <p:nvPr/>
        </p:nvSpPr>
        <p:spPr>
          <a:xfrm>
            <a:off x="548640" y="1143000"/>
            <a:ext cx="64008" cy="2468880"/>
          </a:xfrm>
          <a:prstGeom prst="rect">
            <a:avLst/>
          </a:prstGeom>
          <a:solidFill>
            <a:srgbClr val="2167D2"/>
          </a:solidFill>
          <a:ln w="12700">
            <a:solidFill>
              <a:srgbClr val="2167D2"/>
            </a:solidFill>
            <a:prstDash val="solid"/>
          </a:ln>
        </p:spPr>
      </p:sp>
      <p:sp>
        <p:nvSpPr>
          <p:cNvPr id="7" name="Text 4"/>
          <p:cNvSpPr txBox="1"/>
          <p:nvPr/>
        </p:nvSpPr>
        <p:spPr>
          <a:xfrm>
            <a:off x="704088" y="1188720"/>
            <a:ext cx="1225296" cy="329184"/>
          </a:xfrm>
          <a:prstGeom prst="rect">
            <a:avLst/>
          </a:prstGeom>
          <a:noFill/>
          <a:ln/>
        </p:spPr>
        <p:txBody>
          <a:bodyPr wrap="square" lIns="0" tIns="0" rIns="0" bIns="0" rtlCol="0" anchor="ctr"/>
          <a:lstStyle/>
          <a:p>
            <a:pPr indent="0" marL="0">
              <a:buNone/>
            </a:pPr>
            <a:r>
              <a:rPr lang="en-US" sz="1300" b="1" dirty="0">
                <a:solidFill>
                  <a:srgbClr val="2167D2"/>
                </a:solidFill>
                <a:latin typeface="Georgia" pitchFamily="34" charset="0"/>
                <a:ea typeface="Georgia" pitchFamily="34" charset="-122"/>
                <a:cs typeface="Georgia" pitchFamily="34" charset="-120"/>
              </a:rPr>
              <a:t>Sign in</a:t>
            </a:r>
            <a:endParaRPr lang="en-US" sz="1300" dirty="0"/>
          </a:p>
        </p:txBody>
      </p:sp>
      <p:sp>
        <p:nvSpPr>
          <p:cNvPr id="8" name="Step number 1"/>
          <p:cNvSpPr/>
          <p:nvPr/>
        </p:nvSpPr>
        <p:spPr>
          <a:xfrm>
            <a:off x="1060704" y="1600200"/>
            <a:ext cx="402336" cy="402336"/>
          </a:xfrm>
          <a:prstGeom prst="ellipse">
            <a:avLst/>
          </a:prstGeom>
          <a:solidFill>
            <a:srgbClr val="0F2F53"/>
          </a:solidFill>
          <a:ln w="12700">
            <a:solidFill>
              <a:srgbClr val="0F2F53"/>
            </a:solidFill>
            <a:prstDash val="solid"/>
          </a:ln>
          <a:effectLst>
            <a:outerShdw sx="100000" sy="100000" kx="0" ky="0" algn="bl" rotWithShape="0" blurRad="76200" dist="25400" dir="5400000">
              <a:srgbClr val="1B3A5C">
                <a:alpha val="18000"/>
              </a:srgbClr>
            </a:outerShdw>
          </a:effectLst>
        </p:spPr>
      </p:sp>
      <p:sp>
        <p:nvSpPr>
          <p:cNvPr id="9" name="Text 6"/>
          <p:cNvSpPr txBox="1"/>
          <p:nvPr/>
        </p:nvSpPr>
        <p:spPr>
          <a:xfrm>
            <a:off x="1060704" y="16002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0" name="Service chip 1"/>
          <p:cNvSpPr/>
          <p:nvPr/>
        </p:nvSpPr>
        <p:spPr>
          <a:xfrm>
            <a:off x="704088" y="2103120"/>
            <a:ext cx="1179576" cy="274320"/>
          </a:xfrm>
          <a:prstGeom prst="roundRect">
            <a:avLst>
              <a:gd name="adj" fmla="val 16667"/>
            </a:avLst>
          </a:prstGeom>
          <a:solidFill>
            <a:srgbClr val="EAF1FB"/>
          </a:solidFill>
          <a:ln w="6350">
            <a:solidFill>
              <a:srgbClr val="DCE7EF"/>
            </a:solidFill>
            <a:prstDash val="solid"/>
          </a:ln>
        </p:spPr>
      </p:sp>
      <p:sp>
        <p:nvSpPr>
          <p:cNvPr id="11" name="Text 8"/>
          <p:cNvSpPr txBox="1"/>
          <p:nvPr/>
        </p:nvSpPr>
        <p:spPr>
          <a:xfrm>
            <a:off x="704088" y="2103120"/>
            <a:ext cx="1179576" cy="274320"/>
          </a:xfrm>
          <a:prstGeom prst="rect">
            <a:avLst/>
          </a:prstGeom>
          <a:noFill/>
          <a:ln/>
        </p:spPr>
        <p:txBody>
          <a:bodyPr wrap="square" lIns="0" tIns="0" rIns="0" bIns="0" rtlCol="0" anchor="ctr"/>
          <a:lstStyle/>
          <a:p>
            <a:pPr algn="ctr" indent="0" marL="0">
              <a:buNone/>
            </a:pPr>
            <a:r>
              <a:rPr lang="en-US" sz="1000" b="1" dirty="0">
                <a:solidFill>
                  <a:srgbClr val="0F2F53"/>
                </a:solidFill>
                <a:latin typeface="Aptos" pitchFamily="34" charset="0"/>
                <a:ea typeface="Aptos" pitchFamily="34" charset="-122"/>
                <a:cs typeface="Aptos" pitchFamily="34" charset="-120"/>
              </a:rPr>
              <a:t>Identity</a:t>
            </a:r>
            <a:endParaRPr lang="en-US" sz="1000" dirty="0"/>
          </a:p>
        </p:txBody>
      </p:sp>
      <p:sp>
        <p:nvSpPr>
          <p:cNvPr id="12" name="Text 9"/>
          <p:cNvSpPr txBox="1"/>
          <p:nvPr/>
        </p:nvSpPr>
        <p:spPr>
          <a:xfrm>
            <a:off x="704088" y="2468880"/>
            <a:ext cx="1197864" cy="1097280"/>
          </a:xfrm>
          <a:prstGeom prst="rect">
            <a:avLst/>
          </a:prstGeom>
          <a:noFill/>
          <a:ln/>
        </p:spPr>
        <p:txBody>
          <a:bodyPr wrap="square" lIns="0" tIns="0" rIns="0" bIns="0" rtlCol="0" anchor="t"/>
          <a:lstStyle/>
          <a:p>
            <a:pPr indent="0" marL="0">
              <a:buNone/>
            </a:pPr>
            <a:r>
              <a:rPr lang="en-US" sz="1100" dirty="0">
                <a:solidFill>
                  <a:srgbClr val="233A52"/>
                </a:solidFill>
                <a:latin typeface="Aptos" pitchFamily="34" charset="0"/>
                <a:ea typeface="Aptos" pitchFamily="34" charset="-122"/>
                <a:cs typeface="Aptos" pitchFamily="34" charset="-120"/>
              </a:rPr>
              <a:t>Passkey or password. The college is identified automatically.</a:t>
            </a:r>
            <a:endParaRPr lang="en-US" sz="1100" dirty="0"/>
          </a:p>
        </p:txBody>
      </p:sp>
      <p:sp>
        <p:nvSpPr>
          <p:cNvPr id="13" name="Arrow"/>
          <p:cNvSpPr/>
          <p:nvPr/>
        </p:nvSpPr>
        <p:spPr>
          <a:xfrm>
            <a:off x="1993392" y="2377440"/>
            <a:ext cx="146304" cy="0"/>
          </a:xfrm>
          <a:prstGeom prst="line">
            <a:avLst/>
          </a:prstGeom>
          <a:noFill/>
          <a:ln w="19050">
            <a:solidFill>
              <a:srgbClr val="0F2F53"/>
            </a:solidFill>
            <a:prstDash val="solid"/>
            <a:tailEnd type="triangle"/>
          </a:ln>
        </p:spPr>
      </p:sp>
      <p:sp>
        <p:nvSpPr>
          <p:cNvPr id="14" name="Step 2"/>
          <p:cNvSpPr/>
          <p:nvPr/>
        </p:nvSpPr>
        <p:spPr>
          <a:xfrm>
            <a:off x="2157984" y="1097280"/>
            <a:ext cx="1426464" cy="2560320"/>
          </a:xfrm>
          <a:prstGeom prst="roundRect">
            <a:avLst>
              <a:gd name="adj" fmla="val 5128"/>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15" name="Step accent 2"/>
          <p:cNvSpPr/>
          <p:nvPr/>
        </p:nvSpPr>
        <p:spPr>
          <a:xfrm>
            <a:off x="2157984" y="1143000"/>
            <a:ext cx="64008" cy="2468880"/>
          </a:xfrm>
          <a:prstGeom prst="rect">
            <a:avLst/>
          </a:prstGeom>
          <a:solidFill>
            <a:srgbClr val="0D99AE"/>
          </a:solidFill>
          <a:ln w="12700">
            <a:solidFill>
              <a:srgbClr val="0D99AE"/>
            </a:solidFill>
            <a:prstDash val="solid"/>
          </a:ln>
        </p:spPr>
      </p:sp>
      <p:sp>
        <p:nvSpPr>
          <p:cNvPr id="16" name="Text 13"/>
          <p:cNvSpPr txBox="1"/>
          <p:nvPr/>
        </p:nvSpPr>
        <p:spPr>
          <a:xfrm>
            <a:off x="2313432" y="1188720"/>
            <a:ext cx="1225296" cy="329184"/>
          </a:xfrm>
          <a:prstGeom prst="rect">
            <a:avLst/>
          </a:prstGeom>
          <a:noFill/>
          <a:ln/>
        </p:spPr>
        <p:txBody>
          <a:bodyPr wrap="square" lIns="0" tIns="0" rIns="0" bIns="0" rtlCol="0" anchor="ctr"/>
          <a:lstStyle/>
          <a:p>
            <a:pPr indent="0" marL="0">
              <a:buNone/>
            </a:pPr>
            <a:r>
              <a:rPr lang="en-US" sz="1300" b="1" dirty="0">
                <a:solidFill>
                  <a:srgbClr val="0D99AE"/>
                </a:solidFill>
                <a:latin typeface="Georgia" pitchFamily="34" charset="0"/>
                <a:ea typeface="Georgia" pitchFamily="34" charset="-122"/>
                <a:cs typeface="Georgia" pitchFamily="34" charset="-120"/>
              </a:rPr>
              <a:t>Open session</a:t>
            </a:r>
            <a:endParaRPr lang="en-US" sz="1300" dirty="0"/>
          </a:p>
        </p:txBody>
      </p:sp>
      <p:sp>
        <p:nvSpPr>
          <p:cNvPr id="17" name="Step number 2"/>
          <p:cNvSpPr/>
          <p:nvPr/>
        </p:nvSpPr>
        <p:spPr>
          <a:xfrm>
            <a:off x="2670048" y="1600200"/>
            <a:ext cx="402336" cy="402336"/>
          </a:xfrm>
          <a:prstGeom prst="ellipse">
            <a:avLst/>
          </a:prstGeom>
          <a:solidFill>
            <a:srgbClr val="0F2F53"/>
          </a:solidFill>
          <a:ln w="12700">
            <a:solidFill>
              <a:srgbClr val="0F2F53"/>
            </a:solidFill>
            <a:prstDash val="solid"/>
          </a:ln>
          <a:effectLst>
            <a:outerShdw sx="100000" sy="100000" kx="0" ky="0" algn="bl" rotWithShape="0" blurRad="76200" dist="25400" dir="5400000">
              <a:srgbClr val="1B3A5C">
                <a:alpha val="18000"/>
              </a:srgbClr>
            </a:outerShdw>
          </a:effectLst>
        </p:spPr>
      </p:sp>
      <p:sp>
        <p:nvSpPr>
          <p:cNvPr id="18" name="Text 15"/>
          <p:cNvSpPr txBox="1"/>
          <p:nvPr/>
        </p:nvSpPr>
        <p:spPr>
          <a:xfrm>
            <a:off x="2670048" y="16002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9" name="Service chip 2"/>
          <p:cNvSpPr/>
          <p:nvPr/>
        </p:nvSpPr>
        <p:spPr>
          <a:xfrm>
            <a:off x="2313432" y="2103120"/>
            <a:ext cx="1179576" cy="274320"/>
          </a:xfrm>
          <a:prstGeom prst="roundRect">
            <a:avLst>
              <a:gd name="adj" fmla="val 16667"/>
            </a:avLst>
          </a:prstGeom>
          <a:solidFill>
            <a:srgbClr val="EAF1FB"/>
          </a:solidFill>
          <a:ln w="6350">
            <a:solidFill>
              <a:srgbClr val="DCE7EF"/>
            </a:solidFill>
            <a:prstDash val="solid"/>
          </a:ln>
        </p:spPr>
      </p:sp>
      <p:sp>
        <p:nvSpPr>
          <p:cNvPr id="20" name="Text 17"/>
          <p:cNvSpPr txBox="1"/>
          <p:nvPr/>
        </p:nvSpPr>
        <p:spPr>
          <a:xfrm>
            <a:off x="2313432" y="2103120"/>
            <a:ext cx="1179576" cy="274320"/>
          </a:xfrm>
          <a:prstGeom prst="rect">
            <a:avLst/>
          </a:prstGeom>
          <a:noFill/>
          <a:ln/>
        </p:spPr>
        <p:txBody>
          <a:bodyPr wrap="square" lIns="0" tIns="0" rIns="0" bIns="0" rtlCol="0" anchor="ctr"/>
          <a:lstStyle/>
          <a:p>
            <a:pPr algn="ctr" indent="0" marL="0">
              <a:buNone/>
            </a:pPr>
            <a:r>
              <a:rPr lang="en-US" sz="1000" b="1" dirty="0">
                <a:solidFill>
                  <a:srgbClr val="0F2F53"/>
                </a:solidFill>
                <a:latin typeface="Aptos" pitchFamily="34" charset="0"/>
                <a:ea typeface="Aptos" pitchFamily="34" charset="-122"/>
                <a:cs typeface="Aptos" pitchFamily="34" charset="-120"/>
              </a:rPr>
              <a:t>Attendance</a:t>
            </a:r>
            <a:endParaRPr lang="en-US" sz="1000" dirty="0"/>
          </a:p>
        </p:txBody>
      </p:sp>
      <p:sp>
        <p:nvSpPr>
          <p:cNvPr id="21" name="Text 18"/>
          <p:cNvSpPr txBox="1"/>
          <p:nvPr/>
        </p:nvSpPr>
        <p:spPr>
          <a:xfrm>
            <a:off x="2313432" y="2468880"/>
            <a:ext cx="1197864" cy="1097280"/>
          </a:xfrm>
          <a:prstGeom prst="rect">
            <a:avLst/>
          </a:prstGeom>
          <a:noFill/>
          <a:ln/>
        </p:spPr>
        <p:txBody>
          <a:bodyPr wrap="square" lIns="0" tIns="0" rIns="0" bIns="0" rtlCol="0" anchor="t"/>
          <a:lstStyle/>
          <a:p>
            <a:pPr indent="0" marL="0">
              <a:buNone/>
            </a:pPr>
            <a:r>
              <a:rPr lang="en-US" sz="1100" dirty="0">
                <a:solidFill>
                  <a:srgbClr val="233A52"/>
                </a:solidFill>
                <a:latin typeface="Aptos" pitchFamily="34" charset="0"/>
                <a:ea typeface="Aptos" pitchFamily="34" charset="-122"/>
                <a:cs typeface="Aptos" pitchFamily="34" charset="-120"/>
              </a:rPr>
              <a:t>Faculty opens attendance. A check-in code appears and changes every few seconds.</a:t>
            </a:r>
            <a:endParaRPr lang="en-US" sz="1100" dirty="0"/>
          </a:p>
        </p:txBody>
      </p:sp>
      <p:sp>
        <p:nvSpPr>
          <p:cNvPr id="22" name="Arrow"/>
          <p:cNvSpPr/>
          <p:nvPr/>
        </p:nvSpPr>
        <p:spPr>
          <a:xfrm>
            <a:off x="3602736" y="2377440"/>
            <a:ext cx="146304" cy="0"/>
          </a:xfrm>
          <a:prstGeom prst="line">
            <a:avLst/>
          </a:prstGeom>
          <a:noFill/>
          <a:ln w="19050">
            <a:solidFill>
              <a:srgbClr val="0F2F53"/>
            </a:solidFill>
            <a:prstDash val="solid"/>
            <a:tailEnd type="triangle"/>
          </a:ln>
        </p:spPr>
      </p:sp>
      <p:sp>
        <p:nvSpPr>
          <p:cNvPr id="23" name="Step 3"/>
          <p:cNvSpPr/>
          <p:nvPr/>
        </p:nvSpPr>
        <p:spPr>
          <a:xfrm>
            <a:off x="3767328" y="1097280"/>
            <a:ext cx="1426464" cy="2560320"/>
          </a:xfrm>
          <a:prstGeom prst="roundRect">
            <a:avLst>
              <a:gd name="adj" fmla="val 5128"/>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24" name="Step accent 3"/>
          <p:cNvSpPr/>
          <p:nvPr/>
        </p:nvSpPr>
        <p:spPr>
          <a:xfrm>
            <a:off x="3767328" y="1143000"/>
            <a:ext cx="64008" cy="2468880"/>
          </a:xfrm>
          <a:prstGeom prst="rect">
            <a:avLst/>
          </a:prstGeom>
          <a:solidFill>
            <a:srgbClr val="22AC71"/>
          </a:solidFill>
          <a:ln w="12700">
            <a:solidFill>
              <a:srgbClr val="22AC71"/>
            </a:solidFill>
            <a:prstDash val="solid"/>
          </a:ln>
        </p:spPr>
      </p:sp>
      <p:sp>
        <p:nvSpPr>
          <p:cNvPr id="25" name="Text 22"/>
          <p:cNvSpPr txBox="1"/>
          <p:nvPr/>
        </p:nvSpPr>
        <p:spPr>
          <a:xfrm>
            <a:off x="3922776" y="1188720"/>
            <a:ext cx="1225296" cy="329184"/>
          </a:xfrm>
          <a:prstGeom prst="rect">
            <a:avLst/>
          </a:prstGeom>
          <a:noFill/>
          <a:ln/>
        </p:spPr>
        <p:txBody>
          <a:bodyPr wrap="square" lIns="0" tIns="0" rIns="0" bIns="0" rtlCol="0" anchor="ctr"/>
          <a:lstStyle/>
          <a:p>
            <a:pPr indent="0" marL="0">
              <a:buNone/>
            </a:pPr>
            <a:r>
              <a:rPr lang="en-US" sz="1300" b="1" dirty="0">
                <a:solidFill>
                  <a:srgbClr val="22AC71"/>
                </a:solidFill>
                <a:latin typeface="Georgia" pitchFamily="34" charset="0"/>
                <a:ea typeface="Georgia" pitchFamily="34" charset="-122"/>
                <a:cs typeface="Georgia" pitchFamily="34" charset="-120"/>
              </a:rPr>
              <a:t>Check in</a:t>
            </a:r>
            <a:endParaRPr lang="en-US" sz="1300" dirty="0"/>
          </a:p>
        </p:txBody>
      </p:sp>
      <p:sp>
        <p:nvSpPr>
          <p:cNvPr id="26" name="Step number 3"/>
          <p:cNvSpPr/>
          <p:nvPr/>
        </p:nvSpPr>
        <p:spPr>
          <a:xfrm>
            <a:off x="4279392" y="1600200"/>
            <a:ext cx="402336" cy="402336"/>
          </a:xfrm>
          <a:prstGeom prst="ellipse">
            <a:avLst/>
          </a:prstGeom>
          <a:solidFill>
            <a:srgbClr val="0F2F53"/>
          </a:solidFill>
          <a:ln w="12700">
            <a:solidFill>
              <a:srgbClr val="0F2F53"/>
            </a:solidFill>
            <a:prstDash val="solid"/>
          </a:ln>
          <a:effectLst>
            <a:outerShdw sx="100000" sy="100000" kx="0" ky="0" algn="bl" rotWithShape="0" blurRad="76200" dist="25400" dir="5400000">
              <a:srgbClr val="1B3A5C">
                <a:alpha val="18000"/>
              </a:srgbClr>
            </a:outerShdw>
          </a:effectLst>
        </p:spPr>
      </p:sp>
      <p:sp>
        <p:nvSpPr>
          <p:cNvPr id="27" name="Text 24"/>
          <p:cNvSpPr txBox="1"/>
          <p:nvPr/>
        </p:nvSpPr>
        <p:spPr>
          <a:xfrm>
            <a:off x="4279392" y="16002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8" name="Service chip 3"/>
          <p:cNvSpPr/>
          <p:nvPr/>
        </p:nvSpPr>
        <p:spPr>
          <a:xfrm>
            <a:off x="3922776" y="2103120"/>
            <a:ext cx="1179576" cy="274320"/>
          </a:xfrm>
          <a:prstGeom prst="roundRect">
            <a:avLst>
              <a:gd name="adj" fmla="val 16667"/>
            </a:avLst>
          </a:prstGeom>
          <a:solidFill>
            <a:srgbClr val="EAF1FB"/>
          </a:solidFill>
          <a:ln w="6350">
            <a:solidFill>
              <a:srgbClr val="DCE7EF"/>
            </a:solidFill>
            <a:prstDash val="solid"/>
          </a:ln>
        </p:spPr>
      </p:sp>
      <p:sp>
        <p:nvSpPr>
          <p:cNvPr id="29" name="Text 26"/>
          <p:cNvSpPr txBox="1"/>
          <p:nvPr/>
        </p:nvSpPr>
        <p:spPr>
          <a:xfrm>
            <a:off x="3922776" y="2103120"/>
            <a:ext cx="1179576" cy="274320"/>
          </a:xfrm>
          <a:prstGeom prst="rect">
            <a:avLst/>
          </a:prstGeom>
          <a:noFill/>
          <a:ln/>
        </p:spPr>
        <p:txBody>
          <a:bodyPr wrap="square" lIns="0" tIns="0" rIns="0" bIns="0" rtlCol="0" anchor="ctr"/>
          <a:lstStyle/>
          <a:p>
            <a:pPr algn="ctr" indent="0" marL="0">
              <a:buNone/>
            </a:pPr>
            <a:r>
              <a:rPr lang="en-US" sz="1000" b="1" dirty="0">
                <a:solidFill>
                  <a:srgbClr val="0F2F53"/>
                </a:solidFill>
                <a:latin typeface="Aptos" pitchFamily="34" charset="0"/>
                <a:ea typeface="Aptos" pitchFamily="34" charset="-122"/>
                <a:cs typeface="Aptos" pitchFamily="34" charset="-120"/>
              </a:rPr>
              <a:t>Attendance</a:t>
            </a:r>
            <a:endParaRPr lang="en-US" sz="1000" dirty="0"/>
          </a:p>
        </p:txBody>
      </p:sp>
      <p:sp>
        <p:nvSpPr>
          <p:cNvPr id="30" name="Text 27"/>
          <p:cNvSpPr txBox="1"/>
          <p:nvPr/>
        </p:nvSpPr>
        <p:spPr>
          <a:xfrm>
            <a:off x="3922776" y="2468880"/>
            <a:ext cx="1197864" cy="1097280"/>
          </a:xfrm>
          <a:prstGeom prst="rect">
            <a:avLst/>
          </a:prstGeom>
          <a:noFill/>
          <a:ln/>
        </p:spPr>
        <p:txBody>
          <a:bodyPr wrap="square" lIns="0" tIns="0" rIns="0" bIns="0" rtlCol="0" anchor="t"/>
          <a:lstStyle/>
          <a:p>
            <a:pPr indent="0" marL="0">
              <a:buNone/>
            </a:pPr>
            <a:r>
              <a:rPr lang="en-US" sz="1100" dirty="0">
                <a:solidFill>
                  <a:srgbClr val="233A52"/>
                </a:solidFill>
                <a:latin typeface="Aptos" pitchFamily="34" charset="0"/>
                <a:ea typeface="Aptos" pitchFamily="34" charset="-122"/>
                <a:cs typeface="Aptos" pitchFamily="34" charset="-120"/>
              </a:rPr>
              <a:t>The student enters the code. It is checked, and the student is marked present.</a:t>
            </a:r>
            <a:endParaRPr lang="en-US" sz="1100" dirty="0"/>
          </a:p>
        </p:txBody>
      </p:sp>
      <p:sp>
        <p:nvSpPr>
          <p:cNvPr id="31" name="Arrow"/>
          <p:cNvSpPr/>
          <p:nvPr/>
        </p:nvSpPr>
        <p:spPr>
          <a:xfrm>
            <a:off x="5212080" y="2377440"/>
            <a:ext cx="146304" cy="0"/>
          </a:xfrm>
          <a:prstGeom prst="line">
            <a:avLst/>
          </a:prstGeom>
          <a:noFill/>
          <a:ln w="19050">
            <a:solidFill>
              <a:srgbClr val="0F2F53"/>
            </a:solidFill>
            <a:prstDash val="solid"/>
            <a:tailEnd type="triangle"/>
          </a:ln>
        </p:spPr>
      </p:sp>
      <p:sp>
        <p:nvSpPr>
          <p:cNvPr id="32" name="Step 4"/>
          <p:cNvSpPr/>
          <p:nvPr/>
        </p:nvSpPr>
        <p:spPr>
          <a:xfrm>
            <a:off x="5376672" y="1097280"/>
            <a:ext cx="1426464" cy="2560320"/>
          </a:xfrm>
          <a:prstGeom prst="roundRect">
            <a:avLst>
              <a:gd name="adj" fmla="val 5128"/>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33" name="Step accent 4"/>
          <p:cNvSpPr/>
          <p:nvPr/>
        </p:nvSpPr>
        <p:spPr>
          <a:xfrm>
            <a:off x="5376672" y="1143000"/>
            <a:ext cx="64008" cy="2468880"/>
          </a:xfrm>
          <a:prstGeom prst="rect">
            <a:avLst/>
          </a:prstGeom>
          <a:solidFill>
            <a:srgbClr val="2167D2"/>
          </a:solidFill>
          <a:ln w="12700">
            <a:solidFill>
              <a:srgbClr val="2167D2"/>
            </a:solidFill>
            <a:prstDash val="solid"/>
          </a:ln>
        </p:spPr>
      </p:sp>
      <p:sp>
        <p:nvSpPr>
          <p:cNvPr id="34" name="Text 31"/>
          <p:cNvSpPr txBox="1"/>
          <p:nvPr/>
        </p:nvSpPr>
        <p:spPr>
          <a:xfrm>
            <a:off x="5532120" y="1188720"/>
            <a:ext cx="1225296" cy="329184"/>
          </a:xfrm>
          <a:prstGeom prst="rect">
            <a:avLst/>
          </a:prstGeom>
          <a:noFill/>
          <a:ln/>
        </p:spPr>
        <p:txBody>
          <a:bodyPr wrap="square" lIns="0" tIns="0" rIns="0" bIns="0" rtlCol="0" anchor="ctr"/>
          <a:lstStyle/>
          <a:p>
            <a:pPr indent="0" marL="0">
              <a:buNone/>
            </a:pPr>
            <a:r>
              <a:rPr lang="en-US" sz="1300" b="1" dirty="0">
                <a:solidFill>
                  <a:srgbClr val="2167D2"/>
                </a:solidFill>
                <a:latin typeface="Georgia" pitchFamily="34" charset="0"/>
                <a:ea typeface="Georgia" pitchFamily="34" charset="-122"/>
                <a:cs typeface="Georgia" pitchFamily="34" charset="-120"/>
              </a:rPr>
              <a:t>Live update</a:t>
            </a:r>
            <a:endParaRPr lang="en-US" sz="1300" dirty="0"/>
          </a:p>
        </p:txBody>
      </p:sp>
      <p:sp>
        <p:nvSpPr>
          <p:cNvPr id="35" name="Step number 4"/>
          <p:cNvSpPr/>
          <p:nvPr/>
        </p:nvSpPr>
        <p:spPr>
          <a:xfrm>
            <a:off x="5888736" y="1600200"/>
            <a:ext cx="402336" cy="402336"/>
          </a:xfrm>
          <a:prstGeom prst="ellipse">
            <a:avLst/>
          </a:prstGeom>
          <a:solidFill>
            <a:srgbClr val="0F2F53"/>
          </a:solidFill>
          <a:ln w="12700">
            <a:solidFill>
              <a:srgbClr val="0F2F53"/>
            </a:solidFill>
            <a:prstDash val="solid"/>
          </a:ln>
          <a:effectLst>
            <a:outerShdw sx="100000" sy="100000" kx="0" ky="0" algn="bl" rotWithShape="0" blurRad="76200" dist="25400" dir="5400000">
              <a:srgbClr val="1B3A5C">
                <a:alpha val="18000"/>
              </a:srgbClr>
            </a:outerShdw>
          </a:effectLst>
        </p:spPr>
      </p:sp>
      <p:sp>
        <p:nvSpPr>
          <p:cNvPr id="36" name="Text 33"/>
          <p:cNvSpPr txBox="1"/>
          <p:nvPr/>
        </p:nvSpPr>
        <p:spPr>
          <a:xfrm>
            <a:off x="5888736" y="16002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37" name="Service chip 4"/>
          <p:cNvSpPr/>
          <p:nvPr/>
        </p:nvSpPr>
        <p:spPr>
          <a:xfrm>
            <a:off x="5532120" y="2103120"/>
            <a:ext cx="1179576" cy="274320"/>
          </a:xfrm>
          <a:prstGeom prst="roundRect">
            <a:avLst>
              <a:gd name="adj" fmla="val 16667"/>
            </a:avLst>
          </a:prstGeom>
          <a:solidFill>
            <a:srgbClr val="EAF1FB"/>
          </a:solidFill>
          <a:ln w="6350">
            <a:solidFill>
              <a:srgbClr val="DCE7EF"/>
            </a:solidFill>
            <a:prstDash val="solid"/>
          </a:ln>
        </p:spPr>
      </p:sp>
      <p:sp>
        <p:nvSpPr>
          <p:cNvPr id="38" name="Text 35"/>
          <p:cNvSpPr txBox="1"/>
          <p:nvPr/>
        </p:nvSpPr>
        <p:spPr>
          <a:xfrm>
            <a:off x="5532120" y="2103120"/>
            <a:ext cx="1179576" cy="274320"/>
          </a:xfrm>
          <a:prstGeom prst="rect">
            <a:avLst/>
          </a:prstGeom>
          <a:noFill/>
          <a:ln/>
        </p:spPr>
        <p:txBody>
          <a:bodyPr wrap="square" lIns="0" tIns="0" rIns="0" bIns="0" rtlCol="0" anchor="ctr"/>
          <a:lstStyle/>
          <a:p>
            <a:pPr algn="ctr" indent="0" marL="0">
              <a:buNone/>
            </a:pPr>
            <a:r>
              <a:rPr lang="en-US" sz="1000" b="1" dirty="0">
                <a:solidFill>
                  <a:srgbClr val="0F2F53"/>
                </a:solidFill>
                <a:latin typeface="Aptos" pitchFamily="34" charset="0"/>
                <a:ea typeface="Aptos" pitchFamily="34" charset="-122"/>
                <a:cs typeface="Aptos" pitchFamily="34" charset="-120"/>
              </a:rPr>
              <a:t>Gateway</a:t>
            </a:r>
            <a:endParaRPr lang="en-US" sz="1000" dirty="0"/>
          </a:p>
        </p:txBody>
      </p:sp>
      <p:sp>
        <p:nvSpPr>
          <p:cNvPr id="39" name="Text 36"/>
          <p:cNvSpPr txBox="1"/>
          <p:nvPr/>
        </p:nvSpPr>
        <p:spPr>
          <a:xfrm>
            <a:off x="5532120" y="2468880"/>
            <a:ext cx="1197864" cy="1097280"/>
          </a:xfrm>
          <a:prstGeom prst="rect">
            <a:avLst/>
          </a:prstGeom>
          <a:noFill/>
          <a:ln/>
        </p:spPr>
        <p:txBody>
          <a:bodyPr wrap="square" lIns="0" tIns="0" rIns="0" bIns="0" rtlCol="0" anchor="t"/>
          <a:lstStyle/>
          <a:p>
            <a:pPr indent="0" marL="0">
              <a:buNone/>
            </a:pPr>
            <a:r>
              <a:rPr lang="en-US" sz="1100" dirty="0">
                <a:solidFill>
                  <a:srgbClr val="233A52"/>
                </a:solidFill>
                <a:latin typeface="Aptos" pitchFamily="34" charset="0"/>
                <a:ea typeface="Aptos" pitchFamily="34" charset="-122"/>
                <a:cs typeface="Aptos" pitchFamily="34" charset="-120"/>
              </a:rPr>
              <a:t>Faculty sees attendance update instantly, without refresh.</a:t>
            </a:r>
            <a:endParaRPr lang="en-US" sz="1100" dirty="0"/>
          </a:p>
        </p:txBody>
      </p:sp>
      <p:sp>
        <p:nvSpPr>
          <p:cNvPr id="40" name="Arrow"/>
          <p:cNvSpPr/>
          <p:nvPr/>
        </p:nvSpPr>
        <p:spPr>
          <a:xfrm>
            <a:off x="6821424" y="2377440"/>
            <a:ext cx="146304" cy="0"/>
          </a:xfrm>
          <a:prstGeom prst="line">
            <a:avLst/>
          </a:prstGeom>
          <a:noFill/>
          <a:ln w="19050">
            <a:solidFill>
              <a:srgbClr val="0F2F53"/>
            </a:solidFill>
            <a:prstDash val="solid"/>
            <a:tailEnd type="triangle"/>
          </a:ln>
        </p:spPr>
      </p:sp>
      <p:sp>
        <p:nvSpPr>
          <p:cNvPr id="41" name="Step 5"/>
          <p:cNvSpPr/>
          <p:nvPr/>
        </p:nvSpPr>
        <p:spPr>
          <a:xfrm>
            <a:off x="6986016" y="1097280"/>
            <a:ext cx="1426464" cy="2560320"/>
          </a:xfrm>
          <a:prstGeom prst="roundRect">
            <a:avLst>
              <a:gd name="adj" fmla="val 5128"/>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42" name="Step accent 5"/>
          <p:cNvSpPr/>
          <p:nvPr/>
        </p:nvSpPr>
        <p:spPr>
          <a:xfrm>
            <a:off x="6986016" y="1143000"/>
            <a:ext cx="64008" cy="2468880"/>
          </a:xfrm>
          <a:prstGeom prst="rect">
            <a:avLst/>
          </a:prstGeom>
          <a:solidFill>
            <a:srgbClr val="0D99AE"/>
          </a:solidFill>
          <a:ln w="12700">
            <a:solidFill>
              <a:srgbClr val="0D99AE"/>
            </a:solidFill>
            <a:prstDash val="solid"/>
          </a:ln>
        </p:spPr>
      </p:sp>
      <p:sp>
        <p:nvSpPr>
          <p:cNvPr id="43" name="Text 40"/>
          <p:cNvSpPr txBox="1"/>
          <p:nvPr/>
        </p:nvSpPr>
        <p:spPr>
          <a:xfrm>
            <a:off x="7141464" y="1188720"/>
            <a:ext cx="1225296" cy="329184"/>
          </a:xfrm>
          <a:prstGeom prst="rect">
            <a:avLst/>
          </a:prstGeom>
          <a:noFill/>
          <a:ln/>
        </p:spPr>
        <p:txBody>
          <a:bodyPr wrap="square" lIns="0" tIns="0" rIns="0" bIns="0" rtlCol="0" anchor="ctr"/>
          <a:lstStyle/>
          <a:p>
            <a:pPr indent="0" marL="0">
              <a:buNone/>
            </a:pPr>
            <a:r>
              <a:rPr lang="en-US" sz="1300" b="1" dirty="0">
                <a:solidFill>
                  <a:srgbClr val="0D99AE"/>
                </a:solidFill>
                <a:latin typeface="Georgia" pitchFamily="34" charset="0"/>
                <a:ea typeface="Georgia" pitchFamily="34" charset="-122"/>
                <a:cs typeface="Georgia" pitchFamily="34" charset="-120"/>
              </a:rPr>
              <a:t>Quiz &amp; grade</a:t>
            </a:r>
            <a:endParaRPr lang="en-US" sz="1300" dirty="0"/>
          </a:p>
        </p:txBody>
      </p:sp>
      <p:sp>
        <p:nvSpPr>
          <p:cNvPr id="44" name="Step number 5"/>
          <p:cNvSpPr/>
          <p:nvPr/>
        </p:nvSpPr>
        <p:spPr>
          <a:xfrm>
            <a:off x="7498080" y="1600200"/>
            <a:ext cx="402336" cy="402336"/>
          </a:xfrm>
          <a:prstGeom prst="ellipse">
            <a:avLst/>
          </a:prstGeom>
          <a:solidFill>
            <a:srgbClr val="0F2F53"/>
          </a:solidFill>
          <a:ln w="12700">
            <a:solidFill>
              <a:srgbClr val="0F2F53"/>
            </a:solidFill>
            <a:prstDash val="solid"/>
          </a:ln>
          <a:effectLst>
            <a:outerShdw sx="100000" sy="100000" kx="0" ky="0" algn="bl" rotWithShape="0" blurRad="76200" dist="25400" dir="5400000">
              <a:srgbClr val="1B3A5C">
                <a:alpha val="18000"/>
              </a:srgbClr>
            </a:outerShdw>
          </a:effectLst>
        </p:spPr>
      </p:sp>
      <p:sp>
        <p:nvSpPr>
          <p:cNvPr id="45" name="Text 42"/>
          <p:cNvSpPr txBox="1"/>
          <p:nvPr/>
        </p:nvSpPr>
        <p:spPr>
          <a:xfrm>
            <a:off x="7498080" y="16002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46" name="Service chip 5"/>
          <p:cNvSpPr/>
          <p:nvPr/>
        </p:nvSpPr>
        <p:spPr>
          <a:xfrm>
            <a:off x="7141464" y="2103120"/>
            <a:ext cx="1179576" cy="274320"/>
          </a:xfrm>
          <a:prstGeom prst="roundRect">
            <a:avLst>
              <a:gd name="adj" fmla="val 16667"/>
            </a:avLst>
          </a:prstGeom>
          <a:solidFill>
            <a:srgbClr val="EAF1FB"/>
          </a:solidFill>
          <a:ln w="6350">
            <a:solidFill>
              <a:srgbClr val="DCE7EF"/>
            </a:solidFill>
            <a:prstDash val="solid"/>
          </a:ln>
        </p:spPr>
      </p:sp>
      <p:sp>
        <p:nvSpPr>
          <p:cNvPr id="47" name="Text 44"/>
          <p:cNvSpPr txBox="1"/>
          <p:nvPr/>
        </p:nvSpPr>
        <p:spPr>
          <a:xfrm>
            <a:off x="7141464" y="2103120"/>
            <a:ext cx="1179576" cy="274320"/>
          </a:xfrm>
          <a:prstGeom prst="rect">
            <a:avLst/>
          </a:prstGeom>
          <a:noFill/>
          <a:ln/>
        </p:spPr>
        <p:txBody>
          <a:bodyPr wrap="square" lIns="0" tIns="0" rIns="0" bIns="0" rtlCol="0" anchor="ctr"/>
          <a:lstStyle/>
          <a:p>
            <a:pPr algn="ctr" indent="0" marL="0">
              <a:buNone/>
            </a:pPr>
            <a:r>
              <a:rPr lang="en-US" sz="1000" b="1" dirty="0">
                <a:solidFill>
                  <a:srgbClr val="0F2F53"/>
                </a:solidFill>
                <a:latin typeface="Aptos" pitchFamily="34" charset="0"/>
                <a:ea typeface="Aptos" pitchFamily="34" charset="-122"/>
                <a:cs typeface="Aptos" pitchFamily="34" charset="-120"/>
              </a:rPr>
              <a:t>Assessment</a:t>
            </a:r>
            <a:endParaRPr lang="en-US" sz="1000" dirty="0"/>
          </a:p>
        </p:txBody>
      </p:sp>
      <p:sp>
        <p:nvSpPr>
          <p:cNvPr id="48" name="Text 45"/>
          <p:cNvSpPr txBox="1"/>
          <p:nvPr/>
        </p:nvSpPr>
        <p:spPr>
          <a:xfrm>
            <a:off x="7141464" y="2468880"/>
            <a:ext cx="1197864" cy="1097280"/>
          </a:xfrm>
          <a:prstGeom prst="rect">
            <a:avLst/>
          </a:prstGeom>
          <a:noFill/>
          <a:ln/>
        </p:spPr>
        <p:txBody>
          <a:bodyPr wrap="square" lIns="0" tIns="0" rIns="0" bIns="0" rtlCol="0" anchor="t"/>
          <a:lstStyle/>
          <a:p>
            <a:pPr indent="0" marL="0">
              <a:buNone/>
            </a:pPr>
            <a:r>
              <a:rPr lang="en-US" sz="1100" dirty="0">
                <a:solidFill>
                  <a:srgbClr val="233A52"/>
                </a:solidFill>
                <a:latin typeface="Aptos" pitchFamily="34" charset="0"/>
                <a:ea typeface="Aptos" pitchFamily="34" charset="-122"/>
                <a:cs typeface="Aptos" pitchFamily="34" charset="-120"/>
              </a:rPr>
              <a:t>The student submits a quiz and it is marked automatically. Faculty then publish the grade.</a:t>
            </a:r>
            <a:endParaRPr lang="en-US" sz="1100" dirty="0"/>
          </a:p>
        </p:txBody>
      </p:sp>
      <p:sp>
        <p:nvSpPr>
          <p:cNvPr id="49" name="Arrow"/>
          <p:cNvSpPr/>
          <p:nvPr/>
        </p:nvSpPr>
        <p:spPr>
          <a:xfrm>
            <a:off x="8430768" y="2377440"/>
            <a:ext cx="146304" cy="0"/>
          </a:xfrm>
          <a:prstGeom prst="line">
            <a:avLst/>
          </a:prstGeom>
          <a:noFill/>
          <a:ln w="19050">
            <a:solidFill>
              <a:srgbClr val="0F2F53"/>
            </a:solidFill>
            <a:prstDash val="solid"/>
            <a:tailEnd type="triangle"/>
          </a:ln>
        </p:spPr>
      </p:sp>
      <p:sp>
        <p:nvSpPr>
          <p:cNvPr id="50" name="Step 6"/>
          <p:cNvSpPr/>
          <p:nvPr/>
        </p:nvSpPr>
        <p:spPr>
          <a:xfrm>
            <a:off x="8595360" y="1097280"/>
            <a:ext cx="1426464" cy="2560320"/>
          </a:xfrm>
          <a:prstGeom prst="roundRect">
            <a:avLst>
              <a:gd name="adj" fmla="val 5128"/>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51" name="Step accent 6"/>
          <p:cNvSpPr/>
          <p:nvPr/>
        </p:nvSpPr>
        <p:spPr>
          <a:xfrm>
            <a:off x="8595360" y="1143000"/>
            <a:ext cx="64008" cy="2468880"/>
          </a:xfrm>
          <a:prstGeom prst="rect">
            <a:avLst/>
          </a:prstGeom>
          <a:solidFill>
            <a:srgbClr val="22AC71"/>
          </a:solidFill>
          <a:ln w="12700">
            <a:solidFill>
              <a:srgbClr val="22AC71"/>
            </a:solidFill>
            <a:prstDash val="solid"/>
          </a:ln>
        </p:spPr>
      </p:sp>
      <p:sp>
        <p:nvSpPr>
          <p:cNvPr id="52" name="Text 49"/>
          <p:cNvSpPr txBox="1"/>
          <p:nvPr/>
        </p:nvSpPr>
        <p:spPr>
          <a:xfrm>
            <a:off x="8750808" y="1188720"/>
            <a:ext cx="1225296" cy="329184"/>
          </a:xfrm>
          <a:prstGeom prst="rect">
            <a:avLst/>
          </a:prstGeom>
          <a:noFill/>
          <a:ln/>
        </p:spPr>
        <p:txBody>
          <a:bodyPr wrap="square" lIns="0" tIns="0" rIns="0" bIns="0" rtlCol="0" anchor="ctr"/>
          <a:lstStyle/>
          <a:p>
            <a:pPr indent="0" marL="0">
              <a:buNone/>
            </a:pPr>
            <a:r>
              <a:rPr lang="en-US" sz="1300" b="1" dirty="0">
                <a:solidFill>
                  <a:srgbClr val="22AC71"/>
                </a:solidFill>
                <a:latin typeface="Georgia" pitchFamily="34" charset="0"/>
                <a:ea typeface="Georgia" pitchFamily="34" charset="-122"/>
                <a:cs typeface="Georgia" pitchFamily="34" charset="-120"/>
              </a:rPr>
              <a:t>Risk check</a:t>
            </a:r>
            <a:endParaRPr lang="en-US" sz="1300" dirty="0"/>
          </a:p>
        </p:txBody>
      </p:sp>
      <p:sp>
        <p:nvSpPr>
          <p:cNvPr id="53" name="Step number 6"/>
          <p:cNvSpPr/>
          <p:nvPr/>
        </p:nvSpPr>
        <p:spPr>
          <a:xfrm>
            <a:off x="9107424" y="1600200"/>
            <a:ext cx="402336" cy="402336"/>
          </a:xfrm>
          <a:prstGeom prst="ellipse">
            <a:avLst/>
          </a:prstGeom>
          <a:solidFill>
            <a:srgbClr val="0F2F53"/>
          </a:solidFill>
          <a:ln w="12700">
            <a:solidFill>
              <a:srgbClr val="0F2F53"/>
            </a:solidFill>
            <a:prstDash val="solid"/>
          </a:ln>
          <a:effectLst>
            <a:outerShdw sx="100000" sy="100000" kx="0" ky="0" algn="bl" rotWithShape="0" blurRad="76200" dist="25400" dir="5400000">
              <a:srgbClr val="1B3A5C">
                <a:alpha val="18000"/>
              </a:srgbClr>
            </a:outerShdw>
          </a:effectLst>
        </p:spPr>
      </p:sp>
      <p:sp>
        <p:nvSpPr>
          <p:cNvPr id="54" name="Text 51"/>
          <p:cNvSpPr txBox="1"/>
          <p:nvPr/>
        </p:nvSpPr>
        <p:spPr>
          <a:xfrm>
            <a:off x="9107424" y="16002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6</a:t>
            </a:r>
            <a:endParaRPr lang="en-US" sz="1300" dirty="0"/>
          </a:p>
        </p:txBody>
      </p:sp>
      <p:sp>
        <p:nvSpPr>
          <p:cNvPr id="55" name="Service chip 6"/>
          <p:cNvSpPr/>
          <p:nvPr/>
        </p:nvSpPr>
        <p:spPr>
          <a:xfrm>
            <a:off x="8750808" y="2103120"/>
            <a:ext cx="1179576" cy="274320"/>
          </a:xfrm>
          <a:prstGeom prst="roundRect">
            <a:avLst>
              <a:gd name="adj" fmla="val 16667"/>
            </a:avLst>
          </a:prstGeom>
          <a:solidFill>
            <a:srgbClr val="EAF1FB"/>
          </a:solidFill>
          <a:ln w="6350">
            <a:solidFill>
              <a:srgbClr val="DCE7EF"/>
            </a:solidFill>
            <a:prstDash val="solid"/>
          </a:ln>
        </p:spPr>
      </p:sp>
      <p:sp>
        <p:nvSpPr>
          <p:cNvPr id="56" name="Text 53"/>
          <p:cNvSpPr txBox="1"/>
          <p:nvPr/>
        </p:nvSpPr>
        <p:spPr>
          <a:xfrm>
            <a:off x="8750808" y="2103120"/>
            <a:ext cx="1179576" cy="274320"/>
          </a:xfrm>
          <a:prstGeom prst="rect">
            <a:avLst/>
          </a:prstGeom>
          <a:noFill/>
          <a:ln/>
        </p:spPr>
        <p:txBody>
          <a:bodyPr wrap="square" lIns="0" tIns="0" rIns="0" bIns="0" rtlCol="0" anchor="ctr"/>
          <a:lstStyle/>
          <a:p>
            <a:pPr algn="ctr" indent="0" marL="0">
              <a:buNone/>
            </a:pPr>
            <a:r>
              <a:rPr lang="en-US" sz="1000" b="1" dirty="0">
                <a:solidFill>
                  <a:srgbClr val="0F2F53"/>
                </a:solidFill>
                <a:latin typeface="Aptos" pitchFamily="34" charset="0"/>
                <a:ea typeface="Aptos" pitchFamily="34" charset="-122"/>
                <a:cs typeface="Aptos" pitchFamily="34" charset="-120"/>
              </a:rPr>
              <a:t>Risk</a:t>
            </a:r>
            <a:endParaRPr lang="en-US" sz="1000" dirty="0"/>
          </a:p>
        </p:txBody>
      </p:sp>
      <p:sp>
        <p:nvSpPr>
          <p:cNvPr id="57" name="Text 54"/>
          <p:cNvSpPr txBox="1"/>
          <p:nvPr/>
        </p:nvSpPr>
        <p:spPr>
          <a:xfrm>
            <a:off x="8750808" y="2468880"/>
            <a:ext cx="1197864" cy="1097280"/>
          </a:xfrm>
          <a:prstGeom prst="rect">
            <a:avLst/>
          </a:prstGeom>
          <a:noFill/>
          <a:ln/>
        </p:spPr>
        <p:txBody>
          <a:bodyPr wrap="square" lIns="0" tIns="0" rIns="0" bIns="0" rtlCol="0" anchor="t"/>
          <a:lstStyle/>
          <a:p>
            <a:pPr indent="0" marL="0">
              <a:buNone/>
            </a:pPr>
            <a:r>
              <a:rPr lang="en-US" sz="1100" dirty="0">
                <a:solidFill>
                  <a:srgbClr val="233A52"/>
                </a:solidFill>
                <a:latin typeface="Aptos" pitchFamily="34" charset="0"/>
                <a:ea typeface="Aptos" pitchFamily="34" charset="-122"/>
                <a:cs typeface="Aptos" pitchFamily="34" charset="-120"/>
              </a:rPr>
              <a:t>Attendance, grades and progress become a reproducible score.</a:t>
            </a:r>
            <a:endParaRPr lang="en-US" sz="1100" dirty="0"/>
          </a:p>
        </p:txBody>
      </p:sp>
      <p:sp>
        <p:nvSpPr>
          <p:cNvPr id="58" name="Arrow"/>
          <p:cNvSpPr/>
          <p:nvPr/>
        </p:nvSpPr>
        <p:spPr>
          <a:xfrm>
            <a:off x="10040112" y="2377440"/>
            <a:ext cx="146304" cy="0"/>
          </a:xfrm>
          <a:prstGeom prst="line">
            <a:avLst/>
          </a:prstGeom>
          <a:noFill/>
          <a:ln w="19050">
            <a:solidFill>
              <a:srgbClr val="0F2F53"/>
            </a:solidFill>
            <a:prstDash val="solid"/>
            <a:tailEnd type="triangle"/>
          </a:ln>
        </p:spPr>
      </p:sp>
      <p:sp>
        <p:nvSpPr>
          <p:cNvPr id="59" name="Step 7"/>
          <p:cNvSpPr/>
          <p:nvPr/>
        </p:nvSpPr>
        <p:spPr>
          <a:xfrm>
            <a:off x="10204704" y="1097280"/>
            <a:ext cx="1426464" cy="2560320"/>
          </a:xfrm>
          <a:prstGeom prst="roundRect">
            <a:avLst>
              <a:gd name="adj" fmla="val 5128"/>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60" name="Step accent 7"/>
          <p:cNvSpPr/>
          <p:nvPr/>
        </p:nvSpPr>
        <p:spPr>
          <a:xfrm>
            <a:off x="10204704" y="1143000"/>
            <a:ext cx="64008" cy="2468880"/>
          </a:xfrm>
          <a:prstGeom prst="rect">
            <a:avLst/>
          </a:prstGeom>
          <a:solidFill>
            <a:srgbClr val="2167D2"/>
          </a:solidFill>
          <a:ln w="12700">
            <a:solidFill>
              <a:srgbClr val="2167D2"/>
            </a:solidFill>
            <a:prstDash val="solid"/>
          </a:ln>
        </p:spPr>
      </p:sp>
      <p:sp>
        <p:nvSpPr>
          <p:cNvPr id="61" name="Text 58"/>
          <p:cNvSpPr txBox="1"/>
          <p:nvPr/>
        </p:nvSpPr>
        <p:spPr>
          <a:xfrm>
            <a:off x="10360152" y="1188720"/>
            <a:ext cx="1225296" cy="329184"/>
          </a:xfrm>
          <a:prstGeom prst="rect">
            <a:avLst/>
          </a:prstGeom>
          <a:noFill/>
          <a:ln/>
        </p:spPr>
        <p:txBody>
          <a:bodyPr wrap="square" lIns="0" tIns="0" rIns="0" bIns="0" rtlCol="0" anchor="ctr"/>
          <a:lstStyle/>
          <a:p>
            <a:pPr indent="0" marL="0">
              <a:buNone/>
            </a:pPr>
            <a:r>
              <a:rPr lang="en-US" sz="1300" b="1" dirty="0">
                <a:solidFill>
                  <a:srgbClr val="2167D2"/>
                </a:solidFill>
                <a:latin typeface="Georgia" pitchFamily="34" charset="0"/>
                <a:ea typeface="Georgia" pitchFamily="34" charset="-122"/>
                <a:cs typeface="Georgia" pitchFamily="34" charset="-120"/>
              </a:rPr>
              <a:t>Explanation</a:t>
            </a:r>
            <a:endParaRPr lang="en-US" sz="1300" dirty="0"/>
          </a:p>
        </p:txBody>
      </p:sp>
      <p:sp>
        <p:nvSpPr>
          <p:cNvPr id="62" name="Step number 7"/>
          <p:cNvSpPr/>
          <p:nvPr/>
        </p:nvSpPr>
        <p:spPr>
          <a:xfrm>
            <a:off x="10716768" y="1600200"/>
            <a:ext cx="402336" cy="402336"/>
          </a:xfrm>
          <a:prstGeom prst="ellipse">
            <a:avLst/>
          </a:prstGeom>
          <a:solidFill>
            <a:srgbClr val="0F2F53"/>
          </a:solidFill>
          <a:ln w="12700">
            <a:solidFill>
              <a:srgbClr val="0F2F53"/>
            </a:solidFill>
            <a:prstDash val="solid"/>
          </a:ln>
          <a:effectLst>
            <a:outerShdw sx="100000" sy="100000" kx="0" ky="0" algn="bl" rotWithShape="0" blurRad="76200" dist="25400" dir="5400000">
              <a:srgbClr val="1B3A5C">
                <a:alpha val="18000"/>
              </a:srgbClr>
            </a:outerShdw>
          </a:effectLst>
        </p:spPr>
      </p:sp>
      <p:sp>
        <p:nvSpPr>
          <p:cNvPr id="63" name="Text 60"/>
          <p:cNvSpPr txBox="1"/>
          <p:nvPr/>
        </p:nvSpPr>
        <p:spPr>
          <a:xfrm>
            <a:off x="10716768" y="16002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7</a:t>
            </a:r>
            <a:endParaRPr lang="en-US" sz="1300" dirty="0"/>
          </a:p>
        </p:txBody>
      </p:sp>
      <p:sp>
        <p:nvSpPr>
          <p:cNvPr id="64" name="Service chip 7"/>
          <p:cNvSpPr/>
          <p:nvPr/>
        </p:nvSpPr>
        <p:spPr>
          <a:xfrm>
            <a:off x="10360152" y="2103120"/>
            <a:ext cx="1179576" cy="274320"/>
          </a:xfrm>
          <a:prstGeom prst="roundRect">
            <a:avLst>
              <a:gd name="adj" fmla="val 16667"/>
            </a:avLst>
          </a:prstGeom>
          <a:solidFill>
            <a:srgbClr val="EAF1FB"/>
          </a:solidFill>
          <a:ln w="6350">
            <a:solidFill>
              <a:srgbClr val="DCE7EF"/>
            </a:solidFill>
            <a:prstDash val="solid"/>
          </a:ln>
        </p:spPr>
      </p:sp>
      <p:sp>
        <p:nvSpPr>
          <p:cNvPr id="65" name="Text 62"/>
          <p:cNvSpPr txBox="1"/>
          <p:nvPr/>
        </p:nvSpPr>
        <p:spPr>
          <a:xfrm>
            <a:off x="10360152" y="2103120"/>
            <a:ext cx="1179576" cy="274320"/>
          </a:xfrm>
          <a:prstGeom prst="rect">
            <a:avLst/>
          </a:prstGeom>
          <a:noFill/>
          <a:ln/>
        </p:spPr>
        <p:txBody>
          <a:bodyPr wrap="square" lIns="0" tIns="0" rIns="0" bIns="0" rtlCol="0" anchor="ctr"/>
          <a:lstStyle/>
          <a:p>
            <a:pPr algn="ctr" indent="0" marL="0">
              <a:buNone/>
            </a:pPr>
            <a:r>
              <a:rPr lang="en-US" sz="1000" b="1" dirty="0">
                <a:solidFill>
                  <a:srgbClr val="0F2F53"/>
                </a:solidFill>
                <a:latin typeface="Aptos" pitchFamily="34" charset="0"/>
                <a:ea typeface="Aptos" pitchFamily="34" charset="-122"/>
                <a:cs typeface="Aptos" pitchFamily="34" charset="-120"/>
              </a:rPr>
              <a:t>AI service</a:t>
            </a:r>
            <a:endParaRPr lang="en-US" sz="1000" dirty="0"/>
          </a:p>
        </p:txBody>
      </p:sp>
      <p:sp>
        <p:nvSpPr>
          <p:cNvPr id="66" name="Text 63"/>
          <p:cNvSpPr txBox="1"/>
          <p:nvPr/>
        </p:nvSpPr>
        <p:spPr>
          <a:xfrm>
            <a:off x="10360152" y="2468880"/>
            <a:ext cx="1197864" cy="1097280"/>
          </a:xfrm>
          <a:prstGeom prst="rect">
            <a:avLst/>
          </a:prstGeom>
          <a:noFill/>
          <a:ln/>
        </p:spPr>
        <p:txBody>
          <a:bodyPr wrap="square" lIns="0" tIns="0" rIns="0" bIns="0" rtlCol="0" anchor="t"/>
          <a:lstStyle/>
          <a:p>
            <a:pPr indent="0" marL="0">
              <a:buNone/>
            </a:pPr>
            <a:r>
              <a:rPr lang="en-US" sz="1100" dirty="0">
                <a:solidFill>
                  <a:srgbClr val="233A52"/>
                </a:solidFill>
                <a:latin typeface="Aptos" pitchFamily="34" charset="0"/>
                <a:ea typeface="Aptos" pitchFamily="34" charset="-122"/>
                <a:cs typeface="Aptos" pitchFamily="34" charset="-120"/>
              </a:rPr>
              <a:t>Student and advisor see the reasons, with sources.</a:t>
            </a:r>
            <a:endParaRPr lang="en-US" sz="1100" dirty="0"/>
          </a:p>
        </p:txBody>
      </p:sp>
      <p:sp>
        <p:nvSpPr>
          <p:cNvPr id="67" name="Every step bar"/>
          <p:cNvSpPr/>
          <p:nvPr/>
        </p:nvSpPr>
        <p:spPr>
          <a:xfrm>
            <a:off x="548640" y="3886200"/>
            <a:ext cx="11064240" cy="457200"/>
          </a:xfrm>
          <a:prstGeom prst="roundRect">
            <a:avLst>
              <a:gd name="adj" fmla="val 20000"/>
            </a:avLst>
          </a:prstGeom>
          <a:solidFill>
            <a:srgbClr val="0F2F53"/>
          </a:solidFill>
          <a:ln w="12700">
            <a:solidFill>
              <a:srgbClr val="0F2F53"/>
            </a:solidFill>
            <a:prstDash val="solid"/>
          </a:ln>
          <a:effectLst>
            <a:outerShdw sx="100000" sy="100000" kx="0" ky="0" algn="bl" rotWithShape="0" blurRad="76200" dist="25400" dir="5400000">
              <a:srgbClr val="1B3A5C">
                <a:alpha val="18000"/>
              </a:srgbClr>
            </a:outerShdw>
          </a:effectLst>
        </p:spPr>
      </p:sp>
      <p:sp>
        <p:nvSpPr>
          <p:cNvPr id="68" name="Text 65"/>
          <p:cNvSpPr txBox="1"/>
          <p:nvPr/>
        </p:nvSpPr>
        <p:spPr>
          <a:xfrm>
            <a:off x="548640" y="3886200"/>
            <a:ext cx="110642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ON EVERY STEP  •  permissions checked  •  each college's data stays separate  •  every action logged</a:t>
            </a:r>
            <a:endParaRPr lang="en-US" sz="1400" dirty="0"/>
          </a:p>
        </p:txBody>
      </p:sp>
      <p:sp>
        <p:nvSpPr>
          <p:cNvPr id="69" name="Text 66"/>
          <p:cNvSpPr txBox="1"/>
          <p:nvPr/>
        </p:nvSpPr>
        <p:spPr>
          <a:xfrm>
            <a:off x="548640" y="4526280"/>
            <a:ext cx="8229600" cy="384048"/>
          </a:xfrm>
          <a:prstGeom prst="rect">
            <a:avLst/>
          </a:prstGeom>
          <a:noFill/>
          <a:ln/>
        </p:spPr>
        <p:txBody>
          <a:bodyPr wrap="square" lIns="0" tIns="0" rIns="0" bIns="0" rtlCol="0" anchor="ctr"/>
          <a:lstStyle/>
          <a:p>
            <a:pPr indent="0" marL="0">
              <a:buNone/>
            </a:pPr>
            <a:r>
              <a:rPr lang="en-US" sz="1900" b="1" dirty="0">
                <a:solidFill>
                  <a:srgbClr val="0F2F53"/>
                </a:solidFill>
                <a:latin typeface="Georgia" pitchFamily="34" charset="0"/>
                <a:ea typeface="Georgia" pitchFamily="34" charset="-122"/>
                <a:cs typeface="Georgia" pitchFamily="34" charset="-120"/>
              </a:rPr>
              <a:t>Behind step 5: a published grade becomes an event</a:t>
            </a:r>
            <a:endParaRPr lang="en-US" sz="1900" dirty="0"/>
          </a:p>
        </p:txBody>
      </p:sp>
      <p:sp>
        <p:nvSpPr>
          <p:cNvPr id="70" name="Card Outbox"/>
          <p:cNvSpPr/>
          <p:nvPr/>
        </p:nvSpPr>
        <p:spPr>
          <a:xfrm>
            <a:off x="548640" y="4983480"/>
            <a:ext cx="2606040" cy="1188720"/>
          </a:xfrm>
          <a:prstGeom prst="roundRect">
            <a:avLst>
              <a:gd name="adj" fmla="val 4615"/>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71" name="Card accent Outbox"/>
          <p:cNvSpPr/>
          <p:nvPr/>
        </p:nvSpPr>
        <p:spPr>
          <a:xfrm>
            <a:off x="548640" y="5020056"/>
            <a:ext cx="64008" cy="1115568"/>
          </a:xfrm>
          <a:prstGeom prst="rect">
            <a:avLst/>
          </a:prstGeom>
          <a:solidFill>
            <a:srgbClr val="2167D2"/>
          </a:solidFill>
          <a:ln w="12700">
            <a:solidFill>
              <a:srgbClr val="2167D2"/>
            </a:solidFill>
            <a:prstDash val="solid"/>
          </a:ln>
        </p:spPr>
      </p:sp>
      <p:sp>
        <p:nvSpPr>
          <p:cNvPr id="72" name="Text 69"/>
          <p:cNvSpPr txBox="1"/>
          <p:nvPr/>
        </p:nvSpPr>
        <p:spPr>
          <a:xfrm>
            <a:off x="749808" y="5074920"/>
            <a:ext cx="2286000" cy="347472"/>
          </a:xfrm>
          <a:prstGeom prst="rect">
            <a:avLst/>
          </a:prstGeom>
          <a:noFill/>
          <a:ln/>
        </p:spPr>
        <p:txBody>
          <a:bodyPr wrap="square" lIns="0" tIns="0" rIns="0" bIns="0" rtlCol="0" anchor="ctr"/>
          <a:lstStyle/>
          <a:p>
            <a:pPr indent="0" marL="0">
              <a:buNone/>
            </a:pPr>
            <a:r>
              <a:rPr lang="en-US" sz="1400" b="1" dirty="0">
                <a:solidFill>
                  <a:srgbClr val="2167D2"/>
                </a:solidFill>
                <a:latin typeface="Georgia" pitchFamily="34" charset="0"/>
                <a:ea typeface="Georgia" pitchFamily="34" charset="-122"/>
                <a:cs typeface="Georgia" pitchFamily="34" charset="-120"/>
              </a:rPr>
              <a:t>Outbox</a:t>
            </a:r>
            <a:endParaRPr lang="en-US" sz="1400" dirty="0"/>
          </a:p>
        </p:txBody>
      </p:sp>
      <p:sp>
        <p:nvSpPr>
          <p:cNvPr id="73" name="Text 70"/>
          <p:cNvSpPr txBox="1"/>
          <p:nvPr/>
        </p:nvSpPr>
        <p:spPr>
          <a:xfrm>
            <a:off x="749808" y="5440680"/>
            <a:ext cx="2286000" cy="658368"/>
          </a:xfrm>
          <a:prstGeom prst="rect">
            <a:avLst/>
          </a:prstGeom>
          <a:noFill/>
          <a:ln/>
        </p:spPr>
        <p:txBody>
          <a:bodyPr wrap="square" lIns="0" tIns="0" rIns="0" bIns="0" rtlCol="0" anchor="t"/>
          <a:lstStyle/>
          <a:p>
            <a:pPr indent="0" marL="0">
              <a:buNone/>
            </a:pPr>
            <a:r>
              <a:rPr lang="en-US" sz="1150" dirty="0">
                <a:solidFill>
                  <a:srgbClr val="233A52"/>
                </a:solidFill>
                <a:latin typeface="Aptos" pitchFamily="34" charset="0"/>
                <a:ea typeface="Aptos" pitchFamily="34" charset="-122"/>
                <a:cs typeface="Aptos" pitchFamily="34" charset="-120"/>
              </a:rPr>
              <a:t>The grade and its event are saved together.</a:t>
            </a:r>
            <a:endParaRPr lang="en-US" sz="1150" dirty="0"/>
          </a:p>
        </p:txBody>
      </p:sp>
      <p:sp>
        <p:nvSpPr>
          <p:cNvPr id="74" name="Card Kafka"/>
          <p:cNvSpPr/>
          <p:nvPr/>
        </p:nvSpPr>
        <p:spPr>
          <a:xfrm>
            <a:off x="3367735" y="4983480"/>
            <a:ext cx="2606040" cy="1188720"/>
          </a:xfrm>
          <a:prstGeom prst="roundRect">
            <a:avLst>
              <a:gd name="adj" fmla="val 4615"/>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75" name="Card accent Kafka"/>
          <p:cNvSpPr/>
          <p:nvPr/>
        </p:nvSpPr>
        <p:spPr>
          <a:xfrm>
            <a:off x="3367735" y="5020056"/>
            <a:ext cx="64008" cy="1115568"/>
          </a:xfrm>
          <a:prstGeom prst="rect">
            <a:avLst/>
          </a:prstGeom>
          <a:solidFill>
            <a:srgbClr val="0D99AE"/>
          </a:solidFill>
          <a:ln w="12700">
            <a:solidFill>
              <a:srgbClr val="0D99AE"/>
            </a:solidFill>
            <a:prstDash val="solid"/>
          </a:ln>
        </p:spPr>
      </p:sp>
      <p:sp>
        <p:nvSpPr>
          <p:cNvPr id="76" name="Text 73"/>
          <p:cNvSpPr txBox="1"/>
          <p:nvPr/>
        </p:nvSpPr>
        <p:spPr>
          <a:xfrm>
            <a:off x="3568903" y="5074920"/>
            <a:ext cx="2286000" cy="347472"/>
          </a:xfrm>
          <a:prstGeom prst="rect">
            <a:avLst/>
          </a:prstGeom>
          <a:noFill/>
          <a:ln/>
        </p:spPr>
        <p:txBody>
          <a:bodyPr wrap="square" lIns="0" tIns="0" rIns="0" bIns="0" rtlCol="0" anchor="ctr"/>
          <a:lstStyle/>
          <a:p>
            <a:pPr indent="0" marL="0">
              <a:buNone/>
            </a:pPr>
            <a:r>
              <a:rPr lang="en-US" sz="1400" b="1" dirty="0">
                <a:solidFill>
                  <a:srgbClr val="0D99AE"/>
                </a:solidFill>
                <a:latin typeface="Georgia" pitchFamily="34" charset="0"/>
                <a:ea typeface="Georgia" pitchFamily="34" charset="-122"/>
                <a:cs typeface="Georgia" pitchFamily="34" charset="-120"/>
              </a:rPr>
              <a:t>Kafka</a:t>
            </a:r>
            <a:endParaRPr lang="en-US" sz="1400" dirty="0"/>
          </a:p>
        </p:txBody>
      </p:sp>
      <p:sp>
        <p:nvSpPr>
          <p:cNvPr id="77" name="Text 74"/>
          <p:cNvSpPr txBox="1"/>
          <p:nvPr/>
        </p:nvSpPr>
        <p:spPr>
          <a:xfrm>
            <a:off x="3568903" y="5440680"/>
            <a:ext cx="2286000" cy="658368"/>
          </a:xfrm>
          <a:prstGeom prst="rect">
            <a:avLst/>
          </a:prstGeom>
          <a:noFill/>
          <a:ln/>
        </p:spPr>
        <p:txBody>
          <a:bodyPr wrap="square" lIns="0" tIns="0" rIns="0" bIns="0" rtlCol="0" anchor="t"/>
          <a:lstStyle/>
          <a:p>
            <a:pPr indent="0" marL="0">
              <a:buNone/>
            </a:pPr>
            <a:r>
              <a:rPr lang="en-US" sz="1150" dirty="0">
                <a:solidFill>
                  <a:srgbClr val="233A52"/>
                </a:solidFill>
                <a:latin typeface="Aptos" pitchFamily="34" charset="0"/>
                <a:ea typeface="Aptos" pitchFamily="34" charset="-122"/>
                <a:cs typeface="Aptos" pitchFamily="34" charset="-120"/>
              </a:rPr>
              <a:t>The event is stored; each reader keeps its place.</a:t>
            </a:r>
            <a:endParaRPr lang="en-US" sz="1150" dirty="0"/>
          </a:p>
        </p:txBody>
      </p:sp>
      <p:sp>
        <p:nvSpPr>
          <p:cNvPr id="78" name="Card Readers act"/>
          <p:cNvSpPr/>
          <p:nvPr/>
        </p:nvSpPr>
        <p:spPr>
          <a:xfrm>
            <a:off x="6186830" y="4983480"/>
            <a:ext cx="2606040" cy="1188720"/>
          </a:xfrm>
          <a:prstGeom prst="roundRect">
            <a:avLst>
              <a:gd name="adj" fmla="val 4615"/>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79" name="Card accent Readers act"/>
          <p:cNvSpPr/>
          <p:nvPr/>
        </p:nvSpPr>
        <p:spPr>
          <a:xfrm>
            <a:off x="6186830" y="5020056"/>
            <a:ext cx="64008" cy="1115568"/>
          </a:xfrm>
          <a:prstGeom prst="rect">
            <a:avLst/>
          </a:prstGeom>
          <a:solidFill>
            <a:srgbClr val="22AC71"/>
          </a:solidFill>
          <a:ln w="12700">
            <a:solidFill>
              <a:srgbClr val="22AC71"/>
            </a:solidFill>
            <a:prstDash val="solid"/>
          </a:ln>
        </p:spPr>
      </p:sp>
      <p:sp>
        <p:nvSpPr>
          <p:cNvPr id="80" name="Text 77"/>
          <p:cNvSpPr txBox="1"/>
          <p:nvPr/>
        </p:nvSpPr>
        <p:spPr>
          <a:xfrm>
            <a:off x="6387998" y="5074920"/>
            <a:ext cx="2286000" cy="347472"/>
          </a:xfrm>
          <a:prstGeom prst="rect">
            <a:avLst/>
          </a:prstGeom>
          <a:noFill/>
          <a:ln/>
        </p:spPr>
        <p:txBody>
          <a:bodyPr wrap="square" lIns="0" tIns="0" rIns="0" bIns="0" rtlCol="0" anchor="ctr"/>
          <a:lstStyle/>
          <a:p>
            <a:pPr indent="0" marL="0">
              <a:buNone/>
            </a:pPr>
            <a:r>
              <a:rPr lang="en-US" sz="1400" b="1" dirty="0">
                <a:solidFill>
                  <a:srgbClr val="22AC71"/>
                </a:solidFill>
                <a:latin typeface="Georgia" pitchFamily="34" charset="0"/>
                <a:ea typeface="Georgia" pitchFamily="34" charset="-122"/>
                <a:cs typeface="Georgia" pitchFamily="34" charset="-120"/>
              </a:rPr>
              <a:t>Readers act</a:t>
            </a:r>
            <a:endParaRPr lang="en-US" sz="1400" dirty="0"/>
          </a:p>
        </p:txBody>
      </p:sp>
      <p:sp>
        <p:nvSpPr>
          <p:cNvPr id="81" name="Text 78"/>
          <p:cNvSpPr txBox="1"/>
          <p:nvPr/>
        </p:nvSpPr>
        <p:spPr>
          <a:xfrm>
            <a:off x="6387998" y="5440680"/>
            <a:ext cx="2286000" cy="658368"/>
          </a:xfrm>
          <a:prstGeom prst="rect">
            <a:avLst/>
          </a:prstGeom>
          <a:noFill/>
          <a:ln/>
        </p:spPr>
        <p:txBody>
          <a:bodyPr wrap="square" lIns="0" tIns="0" rIns="0" bIns="0" rtlCol="0" anchor="t"/>
          <a:lstStyle/>
          <a:p>
            <a:pPr indent="0" marL="0">
              <a:buNone/>
            </a:pPr>
            <a:r>
              <a:rPr lang="en-US" sz="1150" dirty="0">
                <a:solidFill>
                  <a:srgbClr val="233A52"/>
                </a:solidFill>
                <a:latin typeface="Aptos" pitchFamily="34" charset="0"/>
                <a:ea typeface="Aptos" pitchFamily="34" charset="-122"/>
                <a:cs typeface="Aptos" pitchFamily="34" charset="-120"/>
              </a:rPr>
              <a:t>Risk recalculates, Academic completes the enrollment, Notification alerts the student.</a:t>
            </a:r>
            <a:endParaRPr lang="en-US" sz="1150" dirty="0"/>
          </a:p>
        </p:txBody>
      </p:sp>
      <p:sp>
        <p:nvSpPr>
          <p:cNvPr id="82" name="Card If it fails"/>
          <p:cNvSpPr/>
          <p:nvPr/>
        </p:nvSpPr>
        <p:spPr>
          <a:xfrm>
            <a:off x="9005926" y="4983480"/>
            <a:ext cx="2606040" cy="1188720"/>
          </a:xfrm>
          <a:prstGeom prst="roundRect">
            <a:avLst>
              <a:gd name="adj" fmla="val 4615"/>
            </a:avLst>
          </a:prstGeom>
          <a:solidFill>
            <a:srgbClr val="FFFFFF"/>
          </a:solidFill>
          <a:ln w="9525">
            <a:solidFill>
              <a:srgbClr val="DCE7EF"/>
            </a:solidFill>
            <a:prstDash val="solid"/>
          </a:ln>
          <a:effectLst>
            <a:outerShdw sx="100000" sy="100000" kx="0" ky="0" algn="bl" rotWithShape="0" blurRad="76200" dist="25400" dir="5400000">
              <a:srgbClr val="1B3A5C">
                <a:alpha val="18000"/>
              </a:srgbClr>
            </a:outerShdw>
          </a:effectLst>
        </p:spPr>
      </p:sp>
      <p:sp>
        <p:nvSpPr>
          <p:cNvPr id="83" name="Card accent If it fails"/>
          <p:cNvSpPr/>
          <p:nvPr/>
        </p:nvSpPr>
        <p:spPr>
          <a:xfrm>
            <a:off x="9005926" y="5020056"/>
            <a:ext cx="64008" cy="1115568"/>
          </a:xfrm>
          <a:prstGeom prst="rect">
            <a:avLst/>
          </a:prstGeom>
          <a:solidFill>
            <a:srgbClr val="2167D2"/>
          </a:solidFill>
          <a:ln w="12700">
            <a:solidFill>
              <a:srgbClr val="2167D2"/>
            </a:solidFill>
            <a:prstDash val="solid"/>
          </a:ln>
        </p:spPr>
      </p:sp>
      <p:sp>
        <p:nvSpPr>
          <p:cNvPr id="84" name="Text 81"/>
          <p:cNvSpPr txBox="1"/>
          <p:nvPr/>
        </p:nvSpPr>
        <p:spPr>
          <a:xfrm>
            <a:off x="9207094" y="5074920"/>
            <a:ext cx="2286000" cy="347472"/>
          </a:xfrm>
          <a:prstGeom prst="rect">
            <a:avLst/>
          </a:prstGeom>
          <a:noFill/>
          <a:ln/>
        </p:spPr>
        <p:txBody>
          <a:bodyPr wrap="square" lIns="0" tIns="0" rIns="0" bIns="0" rtlCol="0" anchor="ctr"/>
          <a:lstStyle/>
          <a:p>
            <a:pPr indent="0" marL="0">
              <a:buNone/>
            </a:pPr>
            <a:r>
              <a:rPr lang="en-US" sz="1400" b="1" dirty="0">
                <a:solidFill>
                  <a:srgbClr val="2167D2"/>
                </a:solidFill>
                <a:latin typeface="Georgia" pitchFamily="34" charset="0"/>
                <a:ea typeface="Georgia" pitchFamily="34" charset="-122"/>
                <a:cs typeface="Georgia" pitchFamily="34" charset="-120"/>
              </a:rPr>
              <a:t>If it fails</a:t>
            </a:r>
            <a:endParaRPr lang="en-US" sz="1400" dirty="0"/>
          </a:p>
        </p:txBody>
      </p:sp>
      <p:sp>
        <p:nvSpPr>
          <p:cNvPr id="85" name="Text 82"/>
          <p:cNvSpPr txBox="1"/>
          <p:nvPr/>
        </p:nvSpPr>
        <p:spPr>
          <a:xfrm>
            <a:off x="9207094" y="5440680"/>
            <a:ext cx="2286000" cy="658368"/>
          </a:xfrm>
          <a:prstGeom prst="rect">
            <a:avLst/>
          </a:prstGeom>
          <a:noFill/>
          <a:ln/>
        </p:spPr>
        <p:txBody>
          <a:bodyPr wrap="square" lIns="0" tIns="0" rIns="0" bIns="0" rtlCol="0" anchor="t"/>
          <a:lstStyle/>
          <a:p>
            <a:pPr indent="0" marL="0">
              <a:buNone/>
            </a:pPr>
            <a:r>
              <a:rPr lang="en-US" sz="1150" dirty="0">
                <a:solidFill>
                  <a:srgbClr val="233A52"/>
                </a:solidFill>
                <a:latin typeface="Aptos" pitchFamily="34" charset="0"/>
                <a:ea typeface="Aptos" pitchFamily="34" charset="-122"/>
                <a:cs typeface="Aptos" pitchFamily="34" charset="-120"/>
              </a:rPr>
              <a:t>Retried, then a dead-letter topic. Repeats are ignored.</a:t>
            </a:r>
            <a:endParaRPr lang="en-US" sz="1150" dirty="0"/>
          </a:p>
        </p:txBody>
      </p:sp>
      <p:sp>
        <p:nvSpPr>
          <p:cNvPr id="86" name="Text 83"/>
          <p:cNvSpPr txBox="1"/>
          <p:nvPr/>
        </p:nvSpPr>
        <p:spPr>
          <a:xfrm>
            <a:off x="548640" y="6355080"/>
            <a:ext cx="11064240" cy="274320"/>
          </a:xfrm>
          <a:prstGeom prst="rect">
            <a:avLst/>
          </a:prstGeom>
          <a:noFill/>
          <a:ln/>
        </p:spPr>
        <p:txBody>
          <a:bodyPr wrap="square" lIns="0" tIns="0" rIns="0" bIns="0" rtlCol="0" anchor="ctr"/>
          <a:lstStyle/>
          <a:p>
            <a:pPr algn="ctr" indent="0" marL="0">
              <a:buNone/>
            </a:pPr>
            <a:r>
              <a:rPr lang="en-US" sz="1100" dirty="0">
                <a:solidFill>
                  <a:srgbClr val="536980"/>
                </a:solidFill>
                <a:latin typeface="Aptos" pitchFamily="34" charset="0"/>
                <a:ea typeface="Aptos" pitchFamily="34" charset="-122"/>
                <a:cs typeface="Aptos" pitchFamily="34" charset="-120"/>
              </a:rPr>
              <a:t>Delivery is at-least-once, not exactly-once. Safety comes from readers that ignore repeats.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Setu: Sprint 6</dc:title>
  <dc:subject>PptxGenJS Presentation</dc:subject>
  <dc:creator>Setu</dc:creator>
  <cp:lastModifiedBy>Setu</cp:lastModifiedBy>
  <cp:revision>1</cp:revision>
  <dcterms:created xsi:type="dcterms:W3CDTF">2026-10-26T23:48:12Z</dcterms:created>
  <dcterms:modified xsi:type="dcterms:W3CDTF">2026-10-26T23:48:12Z</dcterms:modified>
</cp:coreProperties>
</file>